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8" r:id="rId39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875520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1" i="0" spc="40">
                <a:solidFill>
                  <a:srgbClr val="1A222E"/>
                </a:solidFill>
                <a:latin typeface="Poppins"/>
              </a:rPr>
              <a:t>UNIVERSITY OF DHAKA   ·   DEPARTMENT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332720" cy="182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200" b="1" i="0">
                <a:solidFill>
                  <a:srgbClr val="142441"/>
                </a:solidFill>
                <a:latin typeface="Poppins"/>
              </a:rPr>
              <a:t>AI-Powered Business Analytics System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50" b="0" i="0">
                <a:solidFill>
                  <a:srgbClr val="1A222E"/>
                </a:solidFill>
                <a:latin typeface="Poppins"/>
              </a:rPr>
              <a:t>Performance Evaluation, Insight Extraction &amp; Strategy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92608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92608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42441"/>
                </a:solidFill>
                <a:latin typeface="Poppins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8740" y="2926080"/>
            <a:ext cx="4073651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Poppins"/>
              </a:rPr>
              <a:t>PHARMACY VERTICAL · BANGLADESH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92608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78424" y="292608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D13E24"/>
                </a:solidFill>
                <a:latin typeface="Poppins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9340" y="2926080"/>
            <a:ext cx="315925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Poppins"/>
              </a:rPr>
              <a:t>B-SMART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996696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0" i="0">
                <a:solidFill>
                  <a:srgbClr val="1A222E"/>
                </a:solidFill>
                <a:latin typeface="Inter"/>
              </a:rPr>
              <a:t>Design science · Leakage-controlled ML · Constraint-aware · Owner-in-the-loop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526280"/>
            <a:ext cx="105156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754880"/>
            <a:ext cx="347472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40">
                <a:solidFill>
                  <a:srgbClr val="B93B2A"/>
                </a:solidFill>
                <a:latin typeface="Poppins"/>
              </a:rPr>
              <a:t>SUBMITTED BY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1" i="0">
                <a:solidFill>
                  <a:srgbClr val="142441"/>
                </a:solidFill>
                <a:latin typeface="Poppins"/>
              </a:rPr>
              <a:t>Md. Rakib Hossain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350" b="0" i="0">
                <a:solidFill>
                  <a:srgbClr val="1A222E"/>
                </a:solidFill>
                <a:latin typeface="Inter"/>
              </a:rPr>
              <a:t>Roll 88 · Reg. 2020315665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1" i="0">
                <a:solidFill>
                  <a:srgbClr val="142441"/>
                </a:solidFill>
                <a:latin typeface="Poppins"/>
              </a:rPr>
              <a:t>Shah Jamal Islam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222E"/>
                </a:solidFill>
                <a:latin typeface="Inter"/>
              </a:rPr>
              <a:t>Roll 81 · Reg. 2020915641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4782312"/>
            <a:ext cx="0" cy="132588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63440" y="4754880"/>
            <a:ext cx="347472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40">
                <a:solidFill>
                  <a:srgbClr val="B93B2A"/>
                </a:solidFill>
                <a:latin typeface="Poppins"/>
              </a:rPr>
              <a:t>SUPERVISED BY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1" i="0">
                <a:solidFill>
                  <a:srgbClr val="142441"/>
                </a:solidFill>
                <a:latin typeface="Poppins"/>
              </a:rPr>
              <a:t>Dr. Saifuddin Md. Tareeq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222E"/>
                </a:solidFill>
                <a:latin typeface="Inter"/>
              </a:rPr>
              <a:t>Professor, Dept. of CSE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222E"/>
                </a:solidFill>
                <a:latin typeface="Inter"/>
              </a:rPr>
              <a:t>University of Dhaka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4782312"/>
            <a:ext cx="0" cy="132588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49640" y="4754880"/>
            <a:ext cx="265176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40">
                <a:solidFill>
                  <a:srgbClr val="B93B2A"/>
                </a:solidFill>
                <a:latin typeface="Poppins"/>
              </a:rPr>
              <a:t>COURSE &amp; DATE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142441"/>
                </a:solidFill>
                <a:latin typeface="Poppins"/>
              </a:rPr>
              <a:t>CSE 4114 · Project Work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222E"/>
                </a:solidFill>
                <a:latin typeface="Inter"/>
              </a:rPr>
              <a:t>4th Year, 1st Semester 2025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222E"/>
                </a:solidFill>
                <a:latin typeface="Inter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 i="0">
                <a:solidFill>
                  <a:srgbClr val="142441"/>
                </a:solidFill>
                <a:latin typeface="Poppins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104241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0" i="0">
                <a:solidFill>
                  <a:srgbClr val="1A222E"/>
                </a:solidFill>
                <a:latin typeface="Inter"/>
              </a:rPr>
              <a:t>One argument, five steps — each step answers the step before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100584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i="0">
                <a:solidFill>
                  <a:srgbClr val="0F7370"/>
                </a:solidFill>
                <a:latin typeface="Poppi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47088"/>
            <a:ext cx="31089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300" b="1" i="0">
                <a:solidFill>
                  <a:srgbClr val="142441"/>
                </a:solidFill>
                <a:latin typeface="Poppi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847088"/>
            <a:ext cx="6522415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Introduction · Motivation · Challenges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61518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743200"/>
            <a:ext cx="100584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i="0">
                <a:solidFill>
                  <a:srgbClr val="0F7370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43200"/>
            <a:ext cx="31089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300" b="1" i="0">
                <a:solidFill>
                  <a:srgbClr val="142441"/>
                </a:solidFill>
                <a:latin typeface="Poppins"/>
              </a:rPr>
              <a:t>What Is Known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743200"/>
            <a:ext cx="6522415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Background Study · Literature Review &amp; Drawbacks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511296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639312"/>
            <a:ext cx="100584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i="0">
                <a:solidFill>
                  <a:srgbClr val="142441"/>
                </a:solidFill>
                <a:latin typeface="Poppi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639312"/>
            <a:ext cx="31089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300" b="1" i="0">
                <a:solidFill>
                  <a:srgbClr val="142441"/>
                </a:solidFill>
                <a:latin typeface="Poppins"/>
              </a:rPr>
              <a:t>Stated Formally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639312"/>
            <a:ext cx="6522415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Problem Formulation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407408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535424"/>
            <a:ext cx="100584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i="0">
                <a:solidFill>
                  <a:srgbClr val="D13E24"/>
                </a:solidFill>
                <a:latin typeface="Poppi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35424"/>
            <a:ext cx="31089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300" b="1" i="0">
                <a:solidFill>
                  <a:srgbClr val="142441"/>
                </a:solidFill>
                <a:latin typeface="Poppins"/>
              </a:rPr>
              <a:t>Our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535424"/>
            <a:ext cx="6522415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Contributions · What We Built · Proposed Methodology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303520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431536"/>
            <a:ext cx="100584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i="0">
                <a:solidFill>
                  <a:srgbClr val="142441"/>
                </a:solidFill>
                <a:latin typeface="Poppi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431536"/>
            <a:ext cx="31089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300" b="1" i="0">
                <a:solidFill>
                  <a:srgbClr val="142441"/>
                </a:solidFill>
                <a:latin typeface="Poppins"/>
              </a:rPr>
              <a:t>The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431536"/>
            <a:ext cx="6522415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Progress &amp; Results · Timeline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The Decision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Four linked steps connect a business event to a business outcome — each step can fail on its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142441"/>
                </a:solidFill>
                <a:latin typeface="Poppins"/>
              </a:rPr>
              <a:t>01</a:t>
            </a:r>
          </a:p>
        </p:txBody>
      </p:sp>
      <p:sp>
        <p:nvSpPr>
          <p:cNvPr id="7" name="Folded Corner 6"/>
          <p:cNvSpPr/>
          <p:nvPr/>
        </p:nvSpPr>
        <p:spPr>
          <a:xfrm>
            <a:off x="1675191" y="2756016"/>
            <a:ext cx="694007" cy="925343"/>
          </a:xfrm>
          <a:prstGeom prst="foldedCorner">
            <a:avLst/>
          </a:prstGeom>
          <a:noFill/>
          <a:ln w="2540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331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Observed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331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Sale · receipt · return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42335" y="3218688"/>
            <a:ext cx="475488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40099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D13E24"/>
                </a:solidFill>
                <a:latin typeface="Poppins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4208" y="3276521"/>
            <a:ext cx="231335" cy="404837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22295" y="3045186"/>
            <a:ext cx="231335" cy="636173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40382" y="2784933"/>
            <a:ext cx="231335" cy="896426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0099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Analytical 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0099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KPI · forecast · risk score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8103" y="3218688"/>
            <a:ext cx="475488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55867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0F7370"/>
                </a:solidFill>
                <a:latin typeface="Poppins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6991059" y="2756016"/>
            <a:ext cx="925343" cy="925343"/>
          </a:xfrm>
          <a:prstGeom prst="ellipse">
            <a:avLst/>
          </a:prstGeom>
          <a:noFill/>
          <a:ln w="254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51312" y="3016269"/>
            <a:ext cx="404837" cy="404837"/>
          </a:xfrm>
          <a:prstGeom prst="ellipse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5867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Eligible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Order or contact priority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73871" y="3218688"/>
            <a:ext cx="475488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71635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A9660A"/>
                </a:solidFill>
                <a:latin typeface="Poppins"/>
              </a:rPr>
              <a:t>04</a:t>
            </a:r>
          </a:p>
        </p:txBody>
      </p:sp>
      <p:sp>
        <p:nvSpPr>
          <p:cNvPr id="25" name="Oval 24"/>
          <p:cNvSpPr/>
          <p:nvPr/>
        </p:nvSpPr>
        <p:spPr>
          <a:xfrm>
            <a:off x="9706827" y="2756016"/>
            <a:ext cx="925343" cy="925343"/>
          </a:xfrm>
          <a:prstGeom prst="ellipse">
            <a:avLst/>
          </a:prstGeom>
          <a:noFill/>
          <a:ln w="2540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23195" y="3090672"/>
            <a:ext cx="29260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478" b="1" i="0">
                <a:solidFill>
                  <a:srgbClr val="A9660A"/>
                </a:solidFill>
                <a:latin typeface="Poppi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1635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Later 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1635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Stock · response ·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572760"/>
            <a:ext cx="45720" cy="777240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572760"/>
            <a:ext cx="10564063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 spc="40">
                <a:solidFill>
                  <a:srgbClr val="142441"/>
                </a:solidFill>
                <a:latin typeface="Poppins"/>
              </a:rPr>
              <a:t>THE CENTRAL PROBLEM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0" i="1">
                <a:solidFill>
                  <a:srgbClr val="1A222E"/>
                </a:solidFill>
                <a:latin typeface="Inter"/>
              </a:rPr>
              <a:t>A trustworthy, usable connection between recording pharmacy operations, extracting predictive insight, and selecting a feasible action is missing.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Four Gaps We Must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The problem isn't a missing model — it's four linked gaps that all block a trustworthy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142441"/>
                </a:solidFill>
                <a:latin typeface="Poppins"/>
              </a:rPr>
              <a:t>01</a:t>
            </a:r>
          </a:p>
        </p:txBody>
      </p:sp>
      <p:sp>
        <p:nvSpPr>
          <p:cNvPr id="7" name="Freeform 6"/>
          <p:cNvSpPr/>
          <p:nvPr/>
        </p:nvSpPr>
        <p:spPr>
          <a:xfrm>
            <a:off x="1735339" y="2815296"/>
            <a:ext cx="573713" cy="806783"/>
          </a:xfrm>
          <a:custGeom>
            <a:avLst/>
            <a:gdLst/>
            <a:ahLst/>
            <a:cxnLst/>
            <a:rect l="l" t="t" r="r" b="b"/>
            <a:pathLst>
              <a:path w="64" h="90">
                <a:moveTo>
                  <a:pt x="0" y="0"/>
                </a:moveTo>
                <a:lnTo>
                  <a:pt x="64" y="0"/>
                </a:lnTo>
                <a:lnTo>
                  <a:pt x="64" y="40"/>
                </a:lnTo>
                <a:lnTo>
                  <a:pt x="32" y="90"/>
                </a:lnTo>
                <a:lnTo>
                  <a:pt x="0" y="40"/>
                </a:lnTo>
                <a:close/>
              </a:path>
            </a:pathLst>
          </a:custGeom>
          <a:noFill/>
          <a:ln w="3048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892069" y="3189771"/>
            <a:ext cx="101209" cy="144584"/>
          </a:xfrm>
          <a:prstGeom prst="line">
            <a:avLst/>
          </a:prstGeom>
          <a:ln w="3048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993278" y="3074103"/>
            <a:ext cx="216878" cy="260252"/>
          </a:xfrm>
          <a:prstGeom prst="line">
            <a:avLst/>
          </a:prstGeom>
          <a:ln w="3048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4331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Data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331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One schema, full provenance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2335" y="3218688"/>
            <a:ext cx="475488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0099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D13E24"/>
                </a:solidFill>
                <a:latin typeface="Poppins"/>
              </a:rPr>
              <a:t>02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4275291" y="2784933"/>
            <a:ext cx="925343" cy="838592"/>
          </a:xfrm>
          <a:prstGeom prst="triangle">
            <a:avLst/>
          </a:prstGeom>
          <a:noFill/>
          <a:ln w="29209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947" y="3262063"/>
            <a:ext cx="256032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478" b="1" i="0">
                <a:solidFill>
                  <a:srgbClr val="D13E24"/>
                </a:solidFill>
                <a:latin typeface="Poppins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0099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Prediction Validity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0099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Leakage-safe, honest baselines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8103" y="3218688"/>
            <a:ext cx="475488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55867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0F7370"/>
                </a:solidFill>
                <a:latin typeface="Poppins"/>
              </a:rPr>
              <a:t>03</a:t>
            </a:r>
          </a:p>
        </p:txBody>
      </p:sp>
      <p:sp>
        <p:nvSpPr>
          <p:cNvPr id="20" name="Oval 19"/>
          <p:cNvSpPr/>
          <p:nvPr/>
        </p:nvSpPr>
        <p:spPr>
          <a:xfrm rot="2400000">
            <a:off x="7019976" y="3030727"/>
            <a:ext cx="491588" cy="375920"/>
          </a:xfrm>
          <a:prstGeom prst="ellipse">
            <a:avLst/>
          </a:prstGeom>
          <a:noFill/>
          <a:ln w="381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2400000">
            <a:off x="7395897" y="3030727"/>
            <a:ext cx="491588" cy="375920"/>
          </a:xfrm>
          <a:prstGeom prst="ellipse">
            <a:avLst/>
          </a:prstGeom>
          <a:noFill/>
          <a:ln w="381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5867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Must meet real constraints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73871" y="3218688"/>
            <a:ext cx="475488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71635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A9660A"/>
                </a:solidFill>
                <a:latin typeface="Poppins"/>
              </a:rPr>
              <a:t>04</a:t>
            </a:r>
          </a:p>
        </p:txBody>
      </p:sp>
      <p:sp>
        <p:nvSpPr>
          <p:cNvPr id="26" name="Oval 25"/>
          <p:cNvSpPr/>
          <p:nvPr/>
        </p:nvSpPr>
        <p:spPr>
          <a:xfrm>
            <a:off x="9938163" y="2727099"/>
            <a:ext cx="462671" cy="462671"/>
          </a:xfrm>
          <a:prstGeom prst="ellipse">
            <a:avLst/>
          </a:prstGeom>
          <a:noFill/>
          <a:ln w="29209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797048" y="3325680"/>
            <a:ext cx="744901" cy="364354"/>
          </a:xfrm>
          <a:custGeom>
            <a:avLst/>
            <a:gdLst/>
            <a:ahLst/>
            <a:cxnLst/>
            <a:rect l="l" t="t" r="r" b="b"/>
            <a:pathLst>
              <a:path w="92" h="45">
                <a:moveTo>
                  <a:pt x="16" y="0"/>
                </a:moveTo>
                <a:lnTo>
                  <a:pt x="76" y="0"/>
                </a:lnTo>
                <a:lnTo>
                  <a:pt x="92" y="45"/>
                </a:lnTo>
                <a:lnTo>
                  <a:pt x="0" y="45"/>
                </a:lnTo>
                <a:close/>
              </a:path>
            </a:pathLst>
          </a:custGeom>
          <a:noFill/>
          <a:ln w="29209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1635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Accountability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1635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A traceable, contestable reason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572760"/>
            <a:ext cx="45720" cy="987552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572760"/>
            <a:ext cx="10564063" cy="987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 spc="40">
                <a:solidFill>
                  <a:srgbClr val="B93B2A"/>
                </a:solidFill>
                <a:latin typeface="Poppins"/>
              </a:rPr>
              <a:t>RESEARCH QUESTION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50" b="0" i="1">
                <a:solidFill>
                  <a:srgbClr val="142441"/>
                </a:solidFill>
                <a:latin typeface="Inter"/>
              </a:rPr>
              <a:t>How can a Bangladesh-aware framework turn auditable retail records into leakage-controlled forecasts — then rank actions that respect a shop's real constraints?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02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Why Bangladeshi Retail Pharmacies,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High-stakes inventory decisions, fragmented records, and adoption evidence all point to the same vertical.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467" y="2322576"/>
            <a:ext cx="3246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142441"/>
                </a:solidFill>
                <a:latin typeface="Poppin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9855" y="2801736"/>
            <a:ext cx="925343" cy="925343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016606" y="3110184"/>
            <a:ext cx="751842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16606" y="3418631"/>
            <a:ext cx="751842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9467" y="4005072"/>
            <a:ext cx="324612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Perishable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4791456"/>
            <a:ext cx="3246120" cy="9022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Too little = stock-out. Too much = cash locked in expiry.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2787" y="2322576"/>
            <a:ext cx="3246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D13E24"/>
                </a:solidFill>
                <a:latin typeface="Poppins"/>
              </a:rPr>
              <a:t>02</a:t>
            </a:r>
          </a:p>
        </p:txBody>
      </p:sp>
      <p:sp>
        <p:nvSpPr>
          <p:cNvPr id="13" name="Folded Corner 12"/>
          <p:cNvSpPr/>
          <p:nvPr/>
        </p:nvSpPr>
        <p:spPr>
          <a:xfrm>
            <a:off x="5748843" y="2801736"/>
            <a:ext cx="694007" cy="925343"/>
          </a:xfrm>
          <a:prstGeom prst="foldedCorner">
            <a:avLst/>
          </a:prstGeom>
          <a:noFill/>
          <a:ln w="2540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2787" y="4005072"/>
            <a:ext cx="324612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Scattered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787" y="4791456"/>
            <a:ext cx="3246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Sales, stock and payments sit in separate ledgers.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6107" y="2322576"/>
            <a:ext cx="3246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0F7370"/>
                </a:solidFill>
                <a:latin typeface="Poppins"/>
              </a:rPr>
              <a:t>03</a:t>
            </a:r>
          </a:p>
        </p:txBody>
      </p:sp>
      <p:sp>
        <p:nvSpPr>
          <p:cNvPr id="17" name="Oval 16"/>
          <p:cNvSpPr/>
          <p:nvPr/>
        </p:nvSpPr>
        <p:spPr>
          <a:xfrm>
            <a:off x="9452163" y="2917404"/>
            <a:ext cx="694007" cy="694007"/>
          </a:xfrm>
          <a:prstGeom prst="ellipse">
            <a:avLst/>
          </a:prstGeom>
          <a:noFill/>
          <a:ln w="2794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9799167" y="2686068"/>
            <a:ext cx="0" cy="173502"/>
          </a:xfrm>
          <a:prstGeom prst="line">
            <a:avLst/>
          </a:prstGeom>
          <a:ln w="3302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99167" y="3669245"/>
            <a:ext cx="0" cy="173502"/>
          </a:xfrm>
          <a:prstGeom prst="line">
            <a:avLst/>
          </a:prstGeom>
          <a:ln w="3302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220827" y="3264408"/>
            <a:ext cx="173502" cy="0"/>
          </a:xfrm>
          <a:prstGeom prst="line">
            <a:avLst/>
          </a:prstGeom>
          <a:ln w="3302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04005" y="3264408"/>
            <a:ext cx="173502" cy="0"/>
          </a:xfrm>
          <a:prstGeom prst="line">
            <a:avLst/>
          </a:prstGeom>
          <a:ln w="3302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76107" y="4005072"/>
            <a:ext cx="324612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Fit Beats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6107" y="4791456"/>
            <a:ext cx="324612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Cost and workflow fit decide whether a tool is used.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02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Who Needs What From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Every role touches the data differently — who creates it, who validates it, who acts on it, who is accountable.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14016"/>
            <a:ext cx="260604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OWNER /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414016"/>
            <a:ext cx="379476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Reorder, allocate cash, accept or reject a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14016"/>
            <a:ext cx="4099255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1">
                <a:solidFill>
                  <a:srgbClr val="1A222E"/>
                </a:solidFill>
                <a:latin typeface="Inter"/>
              </a:rPr>
              <a:t>Needs a short feasible action + evidence — keeps final authority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291840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419856"/>
            <a:ext cx="260604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SALES /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419856"/>
            <a:ext cx="379476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Record sales, returns, receipts, adjustments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19856"/>
            <a:ext cx="4099255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1">
                <a:solidFill>
                  <a:srgbClr val="1A222E"/>
                </a:solidFill>
                <a:latin typeface="Inter"/>
              </a:rPr>
              <a:t>Needs low-friction entry; corrections preserved, not overwritten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297680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425696"/>
            <a:ext cx="260604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425696"/>
            <a:ext cx="379476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Reconcile payments, expenses, margin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425696"/>
            <a:ext cx="4099255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1">
                <a:solidFill>
                  <a:srgbClr val="1A222E"/>
                </a:solidFill>
                <a:latin typeface="Inter"/>
              </a:rPr>
              <a:t>Needs cash, revenue and estimated profit kept visibly separate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5303520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5431536"/>
            <a:ext cx="260604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D13E24"/>
                </a:solidFill>
                <a:latin typeface="Poppins"/>
              </a:rPr>
              <a:t>SUPPLIER /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431536"/>
            <a:ext cx="379476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Confirm lead time, pack size, minimum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431536"/>
            <a:ext cx="4099255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1">
                <a:solidFill>
                  <a:srgbClr val="1A222E"/>
                </a:solidFill>
                <a:latin typeface="Inter"/>
              </a:rPr>
              <a:t>Needs its constraints treated as real, not fixed assumptions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03 ·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Risks We Expect, and How We Control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Every material risk to the evidence is named in advance, with a specific prevention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22576"/>
            <a:ext cx="329184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 i="0">
                <a:solidFill>
                  <a:srgbClr val="B93B2A"/>
                </a:solidFill>
                <a:latin typeface="Poppins"/>
              </a:rPr>
              <a:t>Selection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322576"/>
            <a:ext cx="45720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A222E"/>
                </a:solidFill>
                <a:latin typeface="Poppin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322576"/>
            <a:ext cx="6705295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Describe recruitment; limit claims to sample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52928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944368"/>
            <a:ext cx="329184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 i="0">
                <a:solidFill>
                  <a:srgbClr val="B93B2A"/>
                </a:solidFill>
                <a:latin typeface="Poppins"/>
              </a:rPr>
              <a:t>Data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944368"/>
            <a:ext cx="45720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A222E"/>
                </a:solidFill>
                <a:latin typeface="Poppin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44368"/>
            <a:ext cx="6705295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Cutoff snapshots, grouped / temporal split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474720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566160"/>
            <a:ext cx="329184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 i="0">
                <a:solidFill>
                  <a:srgbClr val="B93B2A"/>
                </a:solidFill>
                <a:latin typeface="Poppins"/>
              </a:rPr>
              <a:t>Stock-out censoring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566160"/>
            <a:ext cx="45720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A222E"/>
                </a:solidFill>
                <a:latin typeface="Poppi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66160"/>
            <a:ext cx="6705295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Retain stock state; stratify censored periods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096512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187952"/>
            <a:ext cx="329184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 i="0">
                <a:solidFill>
                  <a:srgbClr val="B93B2A"/>
                </a:solidFill>
                <a:latin typeface="Poppins"/>
              </a:rPr>
              <a:t>Small / short series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187952"/>
            <a:ext cx="45720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A222E"/>
                </a:solidFill>
                <a:latin typeface="Poppi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187952"/>
            <a:ext cx="6705295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Eligibility rule, baselines, rolling-origin tests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7183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4809744"/>
            <a:ext cx="329184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 i="0">
                <a:solidFill>
                  <a:srgbClr val="B93B2A"/>
                </a:solidFill>
                <a:latin typeface="Poppins"/>
              </a:rPr>
              <a:t>Concept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809744"/>
            <a:ext cx="45720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A222E"/>
                </a:solidFill>
                <a:latin typeface="Poppi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809744"/>
            <a:ext cx="6705295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Time-based tests and post-deployment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669280"/>
            <a:ext cx="45720" cy="658368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669280"/>
            <a:ext cx="10564063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1" i="0">
                <a:solidFill>
                  <a:srgbClr val="142441"/>
                </a:solidFill>
                <a:latin typeface="Poppins"/>
              </a:rPr>
              <a:t>Human risk: </a:t>
            </a:r>
            <a:r>
              <a:rPr sz="1750" b="0" i="0">
                <a:solidFill>
                  <a:srgbClr val="1A222E"/>
                </a:solidFill>
                <a:latin typeface="Inter"/>
              </a:rPr>
              <a:t>time pressure and over-trust in confident-looking output are design constraints too.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04 · BACKGROUND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Three Levels of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Descriptive → Predictive → Prescriptive: an action is only as credible as the prediction and data behind it.</a:t>
            </a:r>
          </a:p>
        </p:txBody>
      </p:sp>
      <p:sp>
        <p:nvSpPr>
          <p:cNvPr id="6" name="Chevron 5"/>
          <p:cNvSpPr/>
          <p:nvPr/>
        </p:nvSpPr>
        <p:spPr>
          <a:xfrm>
            <a:off x="685800" y="2368296"/>
            <a:ext cx="3246120" cy="960120"/>
          </a:xfrm>
          <a:prstGeom prst="chevron">
            <a:avLst/>
          </a:prstGeom>
          <a:solidFill>
            <a:srgbClr val="142441"/>
          </a:solidFill>
          <a:ln w="1905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Descriptive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50" b="0" i="0">
                <a:solidFill>
                  <a:srgbClr val="FFFFFF"/>
                </a:solidFill>
                <a:latin typeface="Inter"/>
              </a:rPr>
              <a:t>What happened, where</a:t>
            </a:r>
          </a:p>
        </p:txBody>
      </p:sp>
      <p:sp>
        <p:nvSpPr>
          <p:cNvPr id="7" name="Chevron 6"/>
          <p:cNvSpPr/>
          <p:nvPr/>
        </p:nvSpPr>
        <p:spPr>
          <a:xfrm>
            <a:off x="3611879" y="2368296"/>
            <a:ext cx="3246120" cy="960120"/>
          </a:xfrm>
          <a:prstGeom prst="chevron">
            <a:avLst/>
          </a:prstGeom>
          <a:solidFill>
            <a:srgbClr val="D13E24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Predictive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50" b="0" i="0">
                <a:solidFill>
                  <a:srgbClr val="FFFFFF"/>
                </a:solidFill>
                <a:latin typeface="Inter"/>
              </a:rPr>
              <a:t>What may happen next</a:t>
            </a:r>
          </a:p>
        </p:txBody>
      </p:sp>
      <p:sp>
        <p:nvSpPr>
          <p:cNvPr id="8" name="Chevron 7"/>
          <p:cNvSpPr/>
          <p:nvPr/>
        </p:nvSpPr>
        <p:spPr>
          <a:xfrm>
            <a:off x="6537959" y="2368296"/>
            <a:ext cx="3246120" cy="960120"/>
          </a:xfrm>
          <a:prstGeom prst="chevron">
            <a:avLst/>
          </a:prstGeom>
          <a:solidFill>
            <a:srgbClr val="0F7370"/>
          </a:solidFill>
          <a:ln w="1905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Prescriptive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50" b="0" i="0">
                <a:solidFill>
                  <a:srgbClr val="FFFFFF"/>
                </a:solidFill>
                <a:latin typeface="Inter"/>
              </a:rPr>
              <a:t>Which response to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31336"/>
            <a:ext cx="7772400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1" i="0">
                <a:solidFill>
                  <a:srgbClr val="142441"/>
                </a:solidFill>
                <a:latin typeface="Poppins"/>
              </a:rPr>
              <a:t>Five Dimensions of Data Quality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425696"/>
            <a:ext cx="512064" cy="512064"/>
          </a:xfrm>
          <a:prstGeom prst="ellipse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25696"/>
            <a:ext cx="512064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084064"/>
            <a:ext cx="25146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Poppins"/>
              </a:rPr>
              <a:t>Syntactic validity</a:t>
            </a:r>
          </a:p>
        </p:txBody>
      </p:sp>
      <p:sp>
        <p:nvSpPr>
          <p:cNvPr id="13" name="Oval 12"/>
          <p:cNvSpPr/>
          <p:nvPr/>
        </p:nvSpPr>
        <p:spPr>
          <a:xfrm>
            <a:off x="2816352" y="4425696"/>
            <a:ext cx="512064" cy="512064"/>
          </a:xfrm>
          <a:prstGeom prst="ellipse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4425696"/>
            <a:ext cx="512064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5084064"/>
            <a:ext cx="25146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Poppins"/>
              </a:rPr>
              <a:t>Entity integrity</a:t>
            </a:r>
          </a:p>
        </p:txBody>
      </p:sp>
      <p:sp>
        <p:nvSpPr>
          <p:cNvPr id="16" name="Oval 15"/>
          <p:cNvSpPr/>
          <p:nvPr/>
        </p:nvSpPr>
        <p:spPr>
          <a:xfrm>
            <a:off x="4946904" y="4425696"/>
            <a:ext cx="512064" cy="512064"/>
          </a:xfrm>
          <a:prstGeom prst="ellipse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4425696"/>
            <a:ext cx="512064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5084064"/>
            <a:ext cx="25146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Poppins"/>
              </a:rPr>
              <a:t>Temporal integrity</a:t>
            </a:r>
          </a:p>
        </p:txBody>
      </p:sp>
      <p:sp>
        <p:nvSpPr>
          <p:cNvPr id="19" name="Oval 18"/>
          <p:cNvSpPr/>
          <p:nvPr/>
        </p:nvSpPr>
        <p:spPr>
          <a:xfrm>
            <a:off x="7077456" y="4425696"/>
            <a:ext cx="512064" cy="512064"/>
          </a:xfrm>
          <a:prstGeom prst="ellipse">
            <a:avLst/>
          </a:prstGeom>
          <a:solidFill>
            <a:srgbClr val="A96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4425696"/>
            <a:ext cx="512064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5084064"/>
            <a:ext cx="25146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Poppins"/>
              </a:rPr>
              <a:t>Reconciliation</a:t>
            </a:r>
          </a:p>
        </p:txBody>
      </p:sp>
      <p:sp>
        <p:nvSpPr>
          <p:cNvPr id="22" name="Oval 21"/>
          <p:cNvSpPr/>
          <p:nvPr/>
        </p:nvSpPr>
        <p:spPr>
          <a:xfrm>
            <a:off x="9208008" y="4425696"/>
            <a:ext cx="512064" cy="512064"/>
          </a:xfrm>
          <a:prstGeom prst="ellipse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4425696"/>
            <a:ext cx="512064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5084064"/>
            <a:ext cx="25146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Poppins"/>
              </a:rPr>
              <a:t>Decision adequacy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04 · BACKGROUND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How We Check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Two structural checks the pipeline runs before any feature is built.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75104"/>
            <a:ext cx="10820095" cy="2103120"/>
          </a:xfrm>
          <a:prstGeom prst="roundRect">
            <a:avLst>
              <a:gd name="adj" fmla="val 5500"/>
            </a:avLst>
          </a:prstGeom>
          <a:solidFill>
            <a:srgbClr val="EEF1F6"/>
          </a:solidFill>
          <a:ln w="1905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54258" y="2229307"/>
            <a:ext cx="497433" cy="497433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800892" y="2395118"/>
            <a:ext cx="404165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00892" y="2560929"/>
            <a:ext cx="404165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2231136"/>
            <a:ext cx="9265615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142441"/>
                </a:solidFill>
                <a:latin typeface="Poppins"/>
              </a:rPr>
              <a:t>STOCK RECONCILIATION RESIDUAL — PRODUCT p, PERIOD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60904"/>
            <a:ext cx="10088575" cy="9438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50" b="0" i="1">
                <a:solidFill>
                  <a:srgbClr val="0F141D"/>
                </a:solidFill>
                <a:latin typeface="Cambria Math"/>
              </a:rPr>
              <a:t>r</a:t>
            </a:r>
            <a:r>
              <a:rPr sz="1500" b="0" i="1" baseline="-25000">
                <a:solidFill>
                  <a:srgbClr val="0F141D"/>
                </a:solidFill>
                <a:latin typeface="Cambria Math"/>
              </a:rPr>
              <a:t>p,t</a:t>
            </a:r>
            <a:r>
              <a:rPr sz="2800" b="0" i="1">
                <a:solidFill>
                  <a:srgbClr val="0F141D"/>
                </a:solidFill>
                <a:latin typeface="Cambria Math"/>
              </a:rPr>
              <a:t> = I</a:t>
            </a:r>
            <a:r>
              <a:rPr sz="1400" b="0" i="1" baseline="30000">
                <a:solidFill>
                  <a:srgbClr val="0F141D"/>
                </a:solidFill>
                <a:latin typeface="Cambria Math"/>
              </a:rPr>
              <a:t>open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p,t</a:t>
            </a:r>
            <a:r>
              <a:rPr sz="2800" b="0" i="1">
                <a:solidFill>
                  <a:srgbClr val="0F141D"/>
                </a:solidFill>
                <a:latin typeface="Cambria Math"/>
              </a:rPr>
              <a:t>  −  I</a:t>
            </a:r>
            <a:r>
              <a:rPr sz="1400" b="0" i="1" baseline="30000">
                <a:solidFill>
                  <a:srgbClr val="0F141D"/>
                </a:solidFill>
                <a:latin typeface="Cambria Math"/>
              </a:rPr>
              <a:t>close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p,t</a:t>
            </a:r>
            <a:r>
              <a:rPr sz="2800" b="0" i="1">
                <a:solidFill>
                  <a:srgbClr val="0F141D"/>
                </a:solidFill>
                <a:latin typeface="Cambria Math"/>
              </a:rPr>
              <a:t>  −  Σ</a:t>
            </a:r>
            <a:r>
              <a:rPr sz="1400" b="0" i="1" baseline="-25000">
                <a:solidFill>
                  <a:srgbClr val="0F141D"/>
                </a:solidFill>
                <a:latin typeface="Cambria Math"/>
              </a:rPr>
              <a:t>m</a:t>
            </a:r>
            <a:r>
              <a:rPr sz="2800" b="0" i="1">
                <a:solidFill>
                  <a:srgbClr val="0F141D"/>
                </a:solidFill>
                <a:latin typeface="Cambria Math"/>
              </a:rPr>
              <a:t> ΔI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p,t,m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86480"/>
            <a:ext cx="10088575" cy="345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A nonzero residual is logged as a data-quality event, never silently forced to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10820095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1" i="0">
                <a:solidFill>
                  <a:srgbClr val="142441"/>
                </a:solidFill>
                <a:latin typeface="Poppins"/>
              </a:rPr>
              <a:t>Temporal Integrity Checks</a:t>
            </a:r>
          </a:p>
        </p:txBody>
      </p:sp>
      <p:sp>
        <p:nvSpPr>
          <p:cNvPr id="14" name="Oval 13"/>
          <p:cNvSpPr/>
          <p:nvPr/>
        </p:nvSpPr>
        <p:spPr>
          <a:xfrm>
            <a:off x="778703" y="4984943"/>
            <a:ext cx="362833" cy="362833"/>
          </a:xfrm>
          <a:prstGeom prst="ellipse">
            <a:avLst/>
          </a:prstGeom>
          <a:noFill/>
          <a:ln w="2540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960120" y="5052974"/>
            <a:ext cx="0" cy="113385"/>
          </a:xfrm>
          <a:prstGeom prst="line">
            <a:avLst/>
          </a:prstGeom>
          <a:ln w="2540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" y="5166359"/>
            <a:ext cx="79369" cy="0"/>
          </a:xfrm>
          <a:prstGeom prst="line">
            <a:avLst/>
          </a:prstGeom>
          <a:ln w="2540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4892040"/>
            <a:ext cx="1824913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Poppins"/>
              </a:rPr>
              <a:t>Event-before-transaction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68696"/>
            <a:ext cx="2464993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 i="0">
                <a:solidFill>
                  <a:srgbClr val="1A222E"/>
                </a:solidFill>
                <a:latin typeface="Inter"/>
              </a:rPr>
              <a:t>Recorded before its source transaction.</a:t>
            </a:r>
          </a:p>
        </p:txBody>
      </p:sp>
      <p:sp>
        <p:nvSpPr>
          <p:cNvPr id="19" name="Oval 18"/>
          <p:cNvSpPr/>
          <p:nvPr/>
        </p:nvSpPr>
        <p:spPr>
          <a:xfrm rot="2400000">
            <a:off x="3575075" y="5092659"/>
            <a:ext cx="192755" cy="147401"/>
          </a:xfrm>
          <a:prstGeom prst="ellipse">
            <a:avLst/>
          </a:prstGeom>
          <a:noFill/>
          <a:ln w="3810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2400000">
            <a:off x="3722476" y="5092659"/>
            <a:ext cx="192755" cy="147401"/>
          </a:xfrm>
          <a:prstGeom prst="ellipse">
            <a:avLst/>
          </a:prstGeom>
          <a:noFill/>
          <a:ln w="3810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0913" y="4892040"/>
            <a:ext cx="1824913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D13E24"/>
                </a:solidFill>
                <a:latin typeface="Poppins"/>
              </a:rPr>
              <a:t>Receipt-before-order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833" y="5568696"/>
            <a:ext cx="2464993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 i="0">
                <a:solidFill>
                  <a:srgbClr val="1A222E"/>
                </a:solidFill>
                <a:latin typeface="Inter"/>
              </a:rPr>
              <a:t>Receipt appears before its purchase order.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6348770" y="4996281"/>
            <a:ext cx="362833" cy="328818"/>
          </a:xfrm>
          <a:prstGeom prst="triangle">
            <a:avLst/>
          </a:prstGeom>
          <a:noFill/>
          <a:ln w="29209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2171" y="5183367"/>
            <a:ext cx="256032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64" b="1" i="0">
                <a:solidFill>
                  <a:srgbClr val="0F7370"/>
                </a:solidFill>
                <a:latin typeface="Poppin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5947" y="4892040"/>
            <a:ext cx="1824913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0F7370"/>
                </a:solidFill>
                <a:latin typeface="Poppins"/>
              </a:rPr>
              <a:t>Implausible lead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867" y="5568696"/>
            <a:ext cx="2464993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 i="0">
                <a:solidFill>
                  <a:srgbClr val="1A222E"/>
                </a:solidFill>
                <a:latin typeface="Inter"/>
              </a:rPr>
              <a:t>Negative or unrealistic supplier lead time.</a:t>
            </a:r>
          </a:p>
        </p:txBody>
      </p:sp>
      <p:sp>
        <p:nvSpPr>
          <p:cNvPr id="27" name="Freeform 26"/>
          <p:cNvSpPr/>
          <p:nvPr/>
        </p:nvSpPr>
        <p:spPr>
          <a:xfrm>
            <a:off x="9202742" y="5008187"/>
            <a:ext cx="224957" cy="316346"/>
          </a:xfrm>
          <a:custGeom>
            <a:avLst/>
            <a:gdLst/>
            <a:ahLst/>
            <a:cxnLst/>
            <a:rect l="l" t="t" r="r" b="b"/>
            <a:pathLst>
              <a:path w="64" h="90">
                <a:moveTo>
                  <a:pt x="0" y="0"/>
                </a:moveTo>
                <a:lnTo>
                  <a:pt x="64" y="0"/>
                </a:lnTo>
                <a:lnTo>
                  <a:pt x="64" y="40"/>
                </a:lnTo>
                <a:lnTo>
                  <a:pt x="32" y="90"/>
                </a:lnTo>
                <a:lnTo>
                  <a:pt x="0" y="40"/>
                </a:lnTo>
                <a:close/>
              </a:path>
            </a:pathLst>
          </a:custGeom>
          <a:noFill/>
          <a:ln w="3048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264197" y="5155021"/>
            <a:ext cx="39685" cy="56693"/>
          </a:xfrm>
          <a:prstGeom prst="line">
            <a:avLst/>
          </a:prstGeom>
          <a:ln w="30480">
            <a:solidFill>
              <a:srgbClr val="A966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303882" y="5109667"/>
            <a:ext cx="85040" cy="102047"/>
          </a:xfrm>
          <a:prstGeom prst="line">
            <a:avLst/>
          </a:prstGeom>
          <a:ln w="30480">
            <a:solidFill>
              <a:srgbClr val="A966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80981" y="4892040"/>
            <a:ext cx="1824913" cy="5943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A9660A"/>
                </a:solidFill>
                <a:latin typeface="Poppins"/>
              </a:rPr>
              <a:t>Post-cutoff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0901" y="5568696"/>
            <a:ext cx="2464993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50" b="0" i="0">
                <a:solidFill>
                  <a:srgbClr val="1A222E"/>
                </a:solidFill>
                <a:latin typeface="Inter"/>
              </a:rPr>
              <a:t>Feature built after its own cutoff.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09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04 · BACKGROUND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What Makes Pharmacy Demand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Established customer/demand methods, and where the pharmacy vertical changes what applies.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331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142441"/>
                </a:solidFill>
                <a:latin typeface="Poppin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9523" y="2756016"/>
            <a:ext cx="925343" cy="925343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646274" y="3064464"/>
            <a:ext cx="751842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6274" y="3372911"/>
            <a:ext cx="751842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4331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Expiry &amp; Shelf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331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Batch and shelf life gate the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0099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D13E24"/>
                </a:solidFill>
                <a:latin typeface="Poppins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4208" y="2813850"/>
            <a:ext cx="867509" cy="838592"/>
          </a:xfrm>
          <a:prstGeom prst="roundRect">
            <a:avLst>
              <a:gd name="adj" fmla="val 12000"/>
            </a:avLst>
          </a:prstGeom>
          <a:noFill/>
          <a:ln w="2794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304208" y="3074103"/>
            <a:ext cx="867510" cy="0"/>
          </a:xfrm>
          <a:prstGeom prst="line">
            <a:avLst/>
          </a:prstGeom>
          <a:ln w="2286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37963" y="2813850"/>
            <a:ext cx="0" cy="260253"/>
          </a:xfrm>
          <a:prstGeom prst="line">
            <a:avLst/>
          </a:prstGeom>
          <a:ln w="2286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40099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Pack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0099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Box → strip → piece changes quantity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867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0F7370"/>
                </a:solidFill>
                <a:latin typeface="Poppins"/>
              </a:rPr>
              <a:t>03</a:t>
            </a:r>
          </a:p>
        </p:txBody>
      </p:sp>
      <p:sp>
        <p:nvSpPr>
          <p:cNvPr id="19" name="Freeform 18"/>
          <p:cNvSpPr/>
          <p:nvPr/>
        </p:nvSpPr>
        <p:spPr>
          <a:xfrm>
            <a:off x="7166875" y="2815296"/>
            <a:ext cx="573713" cy="806783"/>
          </a:xfrm>
          <a:custGeom>
            <a:avLst/>
            <a:gdLst/>
            <a:ahLst/>
            <a:cxnLst/>
            <a:rect l="l" t="t" r="r" b="b"/>
            <a:pathLst>
              <a:path w="64" h="90">
                <a:moveTo>
                  <a:pt x="0" y="0"/>
                </a:moveTo>
                <a:lnTo>
                  <a:pt x="64" y="0"/>
                </a:lnTo>
                <a:lnTo>
                  <a:pt x="64" y="40"/>
                </a:lnTo>
                <a:lnTo>
                  <a:pt x="32" y="90"/>
                </a:lnTo>
                <a:lnTo>
                  <a:pt x="0" y="40"/>
                </a:lnTo>
                <a:close/>
              </a:path>
            </a:pathLst>
          </a:custGeom>
          <a:noFill/>
          <a:ln w="3048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323605" y="3189771"/>
            <a:ext cx="101209" cy="144584"/>
          </a:xfrm>
          <a:prstGeom prst="line">
            <a:avLst/>
          </a:prstGeom>
          <a:ln w="3048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24814" y="3074103"/>
            <a:ext cx="216878" cy="260252"/>
          </a:xfrm>
          <a:prstGeom prst="line">
            <a:avLst/>
          </a:prstGeom>
          <a:ln w="3048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55867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Cold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867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Storage limits, not just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1635" y="2276856"/>
            <a:ext cx="2395728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A9660A"/>
                </a:solidFill>
                <a:latin typeface="Poppins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5744" y="3276521"/>
            <a:ext cx="231335" cy="404837"/>
          </a:xfrm>
          <a:prstGeom prst="rect">
            <a:avLst/>
          </a:prstGeom>
          <a:solidFill>
            <a:srgbClr val="A96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3831" y="3045186"/>
            <a:ext cx="231335" cy="636173"/>
          </a:xfrm>
          <a:prstGeom prst="rect">
            <a:avLst/>
          </a:prstGeom>
          <a:solidFill>
            <a:srgbClr val="A96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71918" y="2784933"/>
            <a:ext cx="231335" cy="896426"/>
          </a:xfrm>
          <a:prstGeom prst="rect">
            <a:avLst/>
          </a:prstGeom>
          <a:solidFill>
            <a:srgbClr val="A96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1635" y="3959352"/>
            <a:ext cx="2395728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Intermittent Demand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1635" y="4745736"/>
            <a:ext cx="2395728" cy="6258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Many zero-sale days per SKU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572760"/>
            <a:ext cx="41148" cy="1005840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2760"/>
            <a:ext cx="10545775" cy="10058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 spc="40">
                <a:solidFill>
                  <a:srgbClr val="38424F"/>
                </a:solidFill>
                <a:latin typeface="Poppins"/>
              </a:rPr>
              <a:t>K-MEANS CLUSTERING OBJECTIVE (RFM SEGMENTATION)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0" i="1">
                <a:solidFill>
                  <a:srgbClr val="0F141D"/>
                </a:solidFill>
                <a:latin typeface="Cambria Math"/>
              </a:rPr>
              <a:t>argmin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  Σ</a:t>
            </a:r>
            <a:r>
              <a:rPr sz="1400" b="0" i="1" baseline="-25000">
                <a:solidFill>
                  <a:srgbClr val="0F141D"/>
                </a:solidFill>
                <a:latin typeface="Cambria Math"/>
              </a:rPr>
              <a:t>k=1..K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 Σ</a:t>
            </a:r>
            <a:r>
              <a:rPr sz="1400" b="0" i="1" baseline="-25000">
                <a:solidFill>
                  <a:srgbClr val="0F141D"/>
                </a:solidFill>
                <a:latin typeface="Cambria Math"/>
              </a:rPr>
              <a:t>xᵢ∈Cₖ</a:t>
            </a:r>
            <a:r>
              <a:rPr sz="1400" b="0" i="1">
                <a:solidFill>
                  <a:srgbClr val="0F141D"/>
                </a:solidFill>
                <a:latin typeface="Cambria Math"/>
              </a:rPr>
              <a:t> ‖x</a:t>
            </a:r>
            <a:r>
              <a:rPr sz="1400" b="0" i="1" baseline="-25000">
                <a:solidFill>
                  <a:srgbClr val="0F141D"/>
                </a:solidFill>
                <a:latin typeface="Cambria Math"/>
              </a:rPr>
              <a:t>i</a:t>
            </a:r>
            <a:r>
              <a:rPr sz="1400" b="0" i="1">
                <a:solidFill>
                  <a:srgbClr val="0F141D"/>
                </a:solidFill>
                <a:latin typeface="Cambria Math"/>
              </a:rPr>
              <a:t> − μ</a:t>
            </a:r>
            <a:r>
              <a:rPr sz="1400" b="0" i="1" baseline="-25000">
                <a:solidFill>
                  <a:srgbClr val="0F141D"/>
                </a:solidFill>
                <a:latin typeface="Cambria Math"/>
              </a:rPr>
              <a:t>k</a:t>
            </a:r>
            <a:r>
              <a:rPr sz="1900" b="0" i="1">
                <a:solidFill>
                  <a:srgbClr val="0F141D"/>
                </a:solidFill>
                <a:latin typeface="Cambria Math"/>
              </a:rPr>
              <a:t>‖</a:t>
            </a:r>
            <a:r>
              <a:rPr sz="1400" b="0" i="1" baseline="30000">
                <a:solidFill>
                  <a:srgbClr val="0F141D"/>
                </a:solidFill>
                <a:latin typeface="Cambria Math"/>
              </a:rPr>
              <a:t>2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38424F"/>
                </a:solidFill>
                <a:latin typeface="Inter"/>
              </a:rPr>
              <a:t>Silhouette score decides K, not a persuasive label.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05 · LITERATURE REVIEW &amp; DRAWBACKS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Five Research Areas Behind This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No single stream supplies the complete argument on its own — the thesis integrates all five.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187" y="2231136"/>
            <a:ext cx="196596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142441"/>
                </a:solidFill>
                <a:latin typeface="Poppins"/>
              </a:rPr>
              <a:t>01</a:t>
            </a:r>
          </a:p>
        </p:txBody>
      </p:sp>
      <p:sp>
        <p:nvSpPr>
          <p:cNvPr id="7" name="Folded Corner 6"/>
          <p:cNvSpPr/>
          <p:nvPr/>
        </p:nvSpPr>
        <p:spPr>
          <a:xfrm>
            <a:off x="1469396" y="2706259"/>
            <a:ext cx="657542" cy="876723"/>
          </a:xfrm>
          <a:prstGeom prst="foldedCorner">
            <a:avLst/>
          </a:prstGeom>
          <a:noFill/>
          <a:ln w="2540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3856939"/>
            <a:ext cx="196596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Bangladesh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4643323"/>
            <a:ext cx="196596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Workflow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4027" y="2231136"/>
            <a:ext cx="196596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D13E24"/>
                </a:solidFill>
                <a:latin typeface="Poppin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8645" y="2706259"/>
            <a:ext cx="876723" cy="876723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590838" y="2998500"/>
            <a:ext cx="712338" cy="0"/>
          </a:xfrm>
          <a:prstGeom prst="line">
            <a:avLst/>
          </a:prstGeom>
          <a:ln w="2286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90838" y="3290742"/>
            <a:ext cx="712338" cy="0"/>
          </a:xfrm>
          <a:prstGeom prst="line">
            <a:avLst/>
          </a:prstGeom>
          <a:ln w="2286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64027" y="3856939"/>
            <a:ext cx="196596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Data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4027" y="4643323"/>
            <a:ext cx="196596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2867" y="2231136"/>
            <a:ext cx="196596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0F7370"/>
                </a:solidFill>
                <a:latin typeface="Poppin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883" y="3199416"/>
            <a:ext cx="219180" cy="383566"/>
          </a:xfrm>
          <a:prstGeom prst="rect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6257" y="2980235"/>
            <a:ext cx="219180" cy="602747"/>
          </a:xfrm>
          <a:prstGeom prst="rect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7630" y="2733657"/>
            <a:ext cx="219180" cy="849326"/>
          </a:xfrm>
          <a:prstGeom prst="rect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2867" y="3856939"/>
            <a:ext cx="196596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Forecast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867" y="4643323"/>
            <a:ext cx="196596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Valid estimates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707" y="2231136"/>
            <a:ext cx="196596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A9660A"/>
                </a:solidFill>
                <a:latin typeface="Poppins"/>
              </a:rPr>
              <a:t>04</a:t>
            </a:r>
          </a:p>
        </p:txBody>
      </p:sp>
      <p:sp>
        <p:nvSpPr>
          <p:cNvPr id="23" name="Oval 22"/>
          <p:cNvSpPr/>
          <p:nvPr/>
        </p:nvSpPr>
        <p:spPr>
          <a:xfrm>
            <a:off x="7806325" y="2706259"/>
            <a:ext cx="876723" cy="876723"/>
          </a:xfrm>
          <a:prstGeom prst="ellipse">
            <a:avLst/>
          </a:prstGeom>
          <a:noFill/>
          <a:ln w="2540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52904" y="2952838"/>
            <a:ext cx="383566" cy="383566"/>
          </a:xfrm>
          <a:prstGeom prst="ellipse">
            <a:avLst/>
          </a:prstGeom>
          <a:solidFill>
            <a:srgbClr val="A96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1707" y="3856939"/>
            <a:ext cx="196596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Prescriptive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1707" y="4643323"/>
            <a:ext cx="196596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Feasible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0547" y="2231136"/>
            <a:ext cx="196596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142441"/>
                </a:solidFill>
                <a:latin typeface="Poppins"/>
              </a:rPr>
              <a:t>05</a:t>
            </a:r>
          </a:p>
        </p:txBody>
      </p:sp>
      <p:sp>
        <p:nvSpPr>
          <p:cNvPr id="28" name="Oval 27"/>
          <p:cNvSpPr/>
          <p:nvPr/>
        </p:nvSpPr>
        <p:spPr>
          <a:xfrm>
            <a:off x="10174346" y="2678862"/>
            <a:ext cx="438361" cy="438361"/>
          </a:xfrm>
          <a:prstGeom prst="ellipse">
            <a:avLst/>
          </a:prstGeom>
          <a:noFill/>
          <a:ln w="29209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040646" y="3245992"/>
            <a:ext cx="705762" cy="345210"/>
          </a:xfrm>
          <a:custGeom>
            <a:avLst/>
            <a:gdLst/>
            <a:ahLst/>
            <a:cxnLst/>
            <a:rect l="l" t="t" r="r" b="b"/>
            <a:pathLst>
              <a:path w="92" h="45">
                <a:moveTo>
                  <a:pt x="16" y="0"/>
                </a:moveTo>
                <a:lnTo>
                  <a:pt x="76" y="0"/>
                </a:lnTo>
                <a:lnTo>
                  <a:pt x="92" y="45"/>
                </a:lnTo>
                <a:lnTo>
                  <a:pt x="0" y="45"/>
                </a:lnTo>
                <a:close/>
              </a:path>
            </a:pathLst>
          </a:custGeom>
          <a:noFill/>
          <a:ln w="29209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0547" y="3856939"/>
            <a:ext cx="1965960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50" b="1" i="0">
                <a:solidFill>
                  <a:srgbClr val="142441"/>
                </a:solidFill>
                <a:latin typeface="Poppins"/>
              </a:rPr>
              <a:t>Explanation &amp;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547" y="4643323"/>
            <a:ext cx="196596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Evaluated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329123"/>
            <a:ext cx="45720" cy="777240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329123"/>
            <a:ext cx="10582351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 spc="40">
                <a:solidFill>
                  <a:srgbClr val="142441"/>
                </a:solidFill>
                <a:latin typeface="Poppins"/>
              </a:rPr>
              <a:t>CROSS-CUTTING INTEGRITY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1A222E"/>
                </a:solidFill>
                <a:latin typeface="Inter"/>
              </a:rPr>
              <a:t>temporal validity · baselines · calibration · uncertainty · provenance · claim boundaries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05 · LITERATURE REVIEW &amp; DRAWBACKS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Gaps in Existing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Six connected gaps emerge from prior work; the central gap is integration, not a missing classifier.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22576"/>
            <a:ext cx="51357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1" i="0">
                <a:solidFill>
                  <a:srgbClr val="146464"/>
                </a:solidFill>
                <a:latin typeface="Poppins"/>
              </a:rPr>
              <a:t>✓  LITERATURE DOES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25496"/>
            <a:ext cx="5135727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Names Bangladesh SME adoption determinants (cost, workflow fit, support)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75304"/>
            <a:ext cx="5135727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Supplies strong forecasting &amp; customer-analytics baselines to compare against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25112"/>
            <a:ext cx="5135727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Provides leakage, calibration &amp; explanation safeguards as separate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322576"/>
            <a:ext cx="51357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1" i="0">
                <a:solidFill>
                  <a:srgbClr val="B93B2A"/>
                </a:solidFill>
                <a:latin typeface="Poppins"/>
              </a:rPr>
              <a:t>✗  REMAINS UNRESOLVED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825496"/>
            <a:ext cx="5135727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No single study links auditable records to leakage-controlled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575304"/>
            <a:ext cx="5135727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No comparison of baseline / pooled / shop-adapted models on one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4325112"/>
            <a:ext cx="5135727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50" b="0" i="0">
                <a:solidFill>
                  <a:srgbClr val="1A222E"/>
                </a:solidFill>
                <a:latin typeface="Inter"/>
              </a:rPr>
              <a:t>No test of whether owners actually understand and correctly act on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12080"/>
            <a:ext cx="10820095" cy="1234440"/>
          </a:xfrm>
          <a:prstGeom prst="roundRect">
            <a:avLst>
              <a:gd name="adj" fmla="val 6000"/>
            </a:avLst>
          </a:prstGeom>
          <a:solidFill>
            <a:srgbClr val="FCEDEB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76672"/>
            <a:ext cx="10180015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50" b="1" i="0" spc="20">
                <a:solidFill>
                  <a:srgbClr val="B93B2A"/>
                </a:solidFill>
                <a:latin typeface="Poppins"/>
              </a:rPr>
              <a:t>THE CENTRAL GAP IS INTEGRATION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50" b="0" i="0">
                <a:solidFill>
                  <a:srgbClr val="142441"/>
                </a:solidFill>
                <a:latin typeface="Inter"/>
              </a:rPr>
              <a:t>Not a missing classifier — no framework yet joins traceable records, leakage-controlled models and owner-understandable actions in one pharmacy workflow.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06 ·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What Data Are We Allowed to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We call this evidence set D_t — every reported number must trace back to it, with a definition and time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76856"/>
            <a:ext cx="10820095" cy="3017520"/>
          </a:xfrm>
          <a:prstGeom prst="roundRect">
            <a:avLst>
              <a:gd name="adj" fmla="val 5500"/>
            </a:avLst>
          </a:prstGeom>
          <a:solidFill>
            <a:srgbClr val="EEF1F6"/>
          </a:solidFill>
          <a:ln w="1905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54258" y="2531059"/>
            <a:ext cx="497433" cy="497433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800892" y="2696870"/>
            <a:ext cx="404165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00892" y="2862681"/>
            <a:ext cx="404165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2532888"/>
            <a:ext cx="9265615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142441"/>
                </a:solidFill>
                <a:latin typeface="Poppins"/>
              </a:rPr>
              <a:t>EVIDENCE SET AT TIME t — PHARMACY b, BRANCH l, PRODUCT p, BATCH r, CUSTOMER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62656"/>
            <a:ext cx="10088575" cy="16042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50" b="0" i="1">
                <a:solidFill>
                  <a:srgbClr val="0F141D"/>
                </a:solidFill>
                <a:latin typeface="Cambria Math"/>
              </a:rPr>
              <a:t>D</a:t>
            </a:r>
            <a:r>
              <a:rPr sz="2000" b="0" i="1" baseline="-25000">
                <a:solidFill>
                  <a:srgbClr val="0F141D"/>
                </a:solidFill>
                <a:latin typeface="Cambria Math"/>
              </a:rPr>
              <a:t>t</a:t>
            </a:r>
            <a:r>
              <a:rPr sz="2400" b="0" i="1">
                <a:solidFill>
                  <a:srgbClr val="0F141D"/>
                </a:solidFill>
                <a:latin typeface="Cambria Math"/>
              </a:rPr>
              <a:t>  =  { Sales, Stock, Batches, Expiry, Purchases, Expenses, Customers, Constraints, Context }</a:t>
            </a:r>
            <a:r>
              <a:rPr sz="2000" b="0" i="1" baseline="-25000">
                <a:solidFill>
                  <a:srgbClr val="0F141D"/>
                </a:solidFill>
                <a:latin typeface="Cambria Math"/>
              </a:rPr>
              <a:t>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48632"/>
            <a:ext cx="10088575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Every downstream KPI, forecast and risk score may only read from D_t — never from future data.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06 ·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How We Calculate Sales and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Two precise definitions (Net Sales and Gross Margin Rate) that make revenue auditable, not just displayed.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76856"/>
            <a:ext cx="5204307" cy="3154680"/>
          </a:xfrm>
          <a:prstGeom prst="roundRect">
            <a:avLst>
              <a:gd name="adj" fmla="val 5500"/>
            </a:avLst>
          </a:prstGeom>
          <a:solidFill>
            <a:srgbClr val="FCEDEB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4015" y="2810865"/>
            <a:ext cx="124358" cy="217627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25008" y="2686507"/>
            <a:ext cx="124358" cy="341985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96001" y="2546604"/>
            <a:ext cx="124358" cy="481888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32888"/>
            <a:ext cx="3649827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D13E24"/>
                </a:solidFill>
                <a:latin typeface="Poppins"/>
              </a:rPr>
              <a:t>NET SALES OVER REPORTING WINDOW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62656"/>
            <a:ext cx="4472787" cy="14874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850" b="0" i="1">
                <a:solidFill>
                  <a:srgbClr val="0F141D"/>
                </a:solidFill>
                <a:latin typeface="Cambria Math"/>
              </a:rPr>
              <a:t>NetSales</a:t>
            </a:r>
            <a:r>
              <a:rPr sz="1500" b="0" i="1" baseline="-25000">
                <a:solidFill>
                  <a:srgbClr val="0F141D"/>
                </a:solidFill>
                <a:latin typeface="Cambria Math"/>
              </a:rPr>
              <a:t>W</a:t>
            </a:r>
            <a:r>
              <a:rPr sz="2600" b="0" i="1">
                <a:solidFill>
                  <a:srgbClr val="0F141D"/>
                </a:solidFill>
                <a:latin typeface="Cambria Math"/>
              </a:rPr>
              <a:t>  =  Σ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i∈W</a:t>
            </a:r>
            <a:r>
              <a:rPr sz="2850" b="0" i="1">
                <a:solidFill>
                  <a:srgbClr val="0F141D"/>
                </a:solidFill>
                <a:latin typeface="Cambria Math"/>
              </a:rPr>
              <a:t> q</a:t>
            </a:r>
            <a:r>
              <a:rPr sz="1500" b="0" i="1" baseline="-25000">
                <a:solidFill>
                  <a:srgbClr val="0F141D"/>
                </a:solidFill>
                <a:latin typeface="Cambria Math"/>
              </a:rPr>
              <a:t>i</a:t>
            </a:r>
            <a:r>
              <a:rPr sz="2850" b="0" i="1">
                <a:solidFill>
                  <a:srgbClr val="0F141D"/>
                </a:solidFill>
                <a:latin typeface="Cambria Math"/>
              </a:rPr>
              <a:t>p</a:t>
            </a:r>
            <a:r>
              <a:rPr sz="1500" b="0" i="1" baseline="-25000">
                <a:solidFill>
                  <a:srgbClr val="0F141D"/>
                </a:solidFill>
                <a:latin typeface="Cambria Math"/>
              </a:rPr>
              <a:t>i</a:t>
            </a:r>
            <a:r>
              <a:rPr sz="2600" b="0" i="1">
                <a:solidFill>
                  <a:srgbClr val="0F141D"/>
                </a:solidFill>
                <a:latin typeface="Cambria Math"/>
              </a:rPr>
              <a:t>  −  Σ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i∈W</a:t>
            </a:r>
            <a:r>
              <a:rPr sz="2850" b="0" i="1">
                <a:solidFill>
                  <a:srgbClr val="0F141D"/>
                </a:solidFill>
                <a:latin typeface="Cambria Math"/>
              </a:rPr>
              <a:t>d</a:t>
            </a:r>
            <a:r>
              <a:rPr sz="1500" b="0" i="1" baseline="-25000">
                <a:solidFill>
                  <a:srgbClr val="0F141D"/>
                </a:solidFill>
                <a:latin typeface="Cambria Math"/>
              </a:rPr>
              <a:t>i</a:t>
            </a:r>
            <a:r>
              <a:rPr sz="2600" b="0" i="1">
                <a:solidFill>
                  <a:srgbClr val="0F141D"/>
                </a:solidFill>
                <a:latin typeface="Cambria Math"/>
              </a:rPr>
              <a:t>  −  Σ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r∈W</a:t>
            </a:r>
            <a:r>
              <a:rPr sz="2850" b="0" i="1">
                <a:solidFill>
                  <a:srgbClr val="0F141D"/>
                </a:solidFill>
                <a:latin typeface="Cambria Math"/>
              </a:rPr>
              <a:t>v</a:t>
            </a:r>
            <a:r>
              <a:rPr sz="1500" b="0" i="1" baseline="-25000">
                <a:solidFill>
                  <a:srgbClr val="0F141D"/>
                </a:solidFill>
                <a:latin typeface="Cambria Math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31792"/>
            <a:ext cx="4472787" cy="853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Gross line value, minus recognized discount, minus valid returns assigned to the 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1587" y="2276856"/>
            <a:ext cx="5204307" cy="3154680"/>
          </a:xfrm>
          <a:prstGeom prst="roundRect">
            <a:avLst>
              <a:gd name="adj" fmla="val 5500"/>
            </a:avLst>
          </a:prstGeom>
          <a:solidFill>
            <a:srgbClr val="E9F4F4"/>
          </a:solidFill>
          <a:ln w="1905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54258" y="2531059"/>
            <a:ext cx="497433" cy="497433"/>
          </a:xfrm>
          <a:prstGeom prst="ellipse">
            <a:avLst/>
          </a:prstGeom>
          <a:noFill/>
          <a:ln w="254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4161" y="2670962"/>
            <a:ext cx="217627" cy="217627"/>
          </a:xfrm>
          <a:prstGeom prst="ellipse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347" y="2532888"/>
            <a:ext cx="3649827" cy="5212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0F7370"/>
                </a:solidFill>
                <a:latin typeface="Poppins"/>
              </a:rPr>
              <a:t>GROSS MARGIN RATE — REPORTED ONLY WITH COST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47" y="3182112"/>
            <a:ext cx="4472787" cy="12679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450" b="0" i="1">
                <a:solidFill>
                  <a:srgbClr val="0F141D"/>
                </a:solidFill>
                <a:latin typeface="Cambria Math"/>
              </a:rPr>
              <a:t>GrossMarginRate</a:t>
            </a:r>
            <a:r>
              <a:rPr sz="1400" b="0" i="1" baseline="-25000">
                <a:solidFill>
                  <a:srgbClr val="0F141D"/>
                </a:solidFill>
                <a:latin typeface="Cambria Math"/>
              </a:rPr>
              <a:t>W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  =  (NetSales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W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 − COGS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W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) / NetSales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47" y="4431792"/>
            <a:ext cx="4472787" cy="853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If unit cost is missing for a material share of units, the system reports coverage — never a fabricated margin.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06 ·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Predicting Demand and Customer Drop-off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Two predictions, each stated as a precise, testable function of evidence available by cutoff 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76856"/>
            <a:ext cx="5204307" cy="3154680"/>
          </a:xfrm>
          <a:prstGeom prst="roundRect">
            <a:avLst>
              <a:gd name="adj" fmla="val 5500"/>
            </a:avLst>
          </a:prstGeom>
          <a:solidFill>
            <a:srgbClr val="EEF1F6"/>
          </a:solidFill>
          <a:ln w="1905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4015" y="2810865"/>
            <a:ext cx="124358" cy="217627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25008" y="2686507"/>
            <a:ext cx="124358" cy="341985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96001" y="2546604"/>
            <a:ext cx="124358" cy="481888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32888"/>
            <a:ext cx="3649827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142441"/>
                </a:solidFill>
                <a:latin typeface="Poppins"/>
              </a:rPr>
              <a:t>DEMAND PREDICTION AT HORIZON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62656"/>
            <a:ext cx="4472787" cy="17414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50" b="0" i="1">
                <a:solidFill>
                  <a:srgbClr val="0F141D"/>
                </a:solidFill>
                <a:latin typeface="Cambria Math"/>
              </a:rPr>
              <a:t>ŷ</a:t>
            </a:r>
            <a:r>
              <a:rPr sz="1400" b="0" i="1" baseline="-25000">
                <a:solidFill>
                  <a:srgbClr val="0F141D"/>
                </a:solidFill>
                <a:latin typeface="Cambria Math"/>
              </a:rPr>
              <a:t>b,l,p,t+h</a:t>
            </a:r>
            <a:r>
              <a:rPr sz="2100" b="0" i="1">
                <a:solidFill>
                  <a:srgbClr val="0F141D"/>
                </a:solidFill>
                <a:latin typeface="Cambria Math"/>
              </a:rPr>
              <a:t>  =  f( history, price,</a:t>
            </a:r>
            <a:r>
              <a:rPr sz="2100" b="0" i="1">
                <a:solidFill>
                  <a:srgbClr val="0F141D"/>
                </a:solidFill>
                <a:latin typeface="Cambria Math"/>
              </a:rPr>
              <a:t>
         promotion, calendar, market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85792"/>
            <a:ext cx="4472787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Quantile / calibrated-residual intervals represent uncertainty.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1587" y="2276856"/>
            <a:ext cx="5204307" cy="3154680"/>
          </a:xfrm>
          <a:prstGeom prst="roundRect">
            <a:avLst>
              <a:gd name="adj" fmla="val 5500"/>
            </a:avLst>
          </a:prstGeom>
          <a:solidFill>
            <a:srgbClr val="FCEDEB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54258" y="2531059"/>
            <a:ext cx="497433" cy="497433"/>
          </a:xfrm>
          <a:prstGeom prst="ellipse">
            <a:avLst/>
          </a:prstGeom>
          <a:noFill/>
          <a:ln w="2540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1002975" y="2624328"/>
            <a:ext cx="0" cy="155448"/>
          </a:xfrm>
          <a:prstGeom prst="line">
            <a:avLst/>
          </a:prstGeom>
          <a:ln w="2540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02975" y="2779776"/>
            <a:ext cx="108813" cy="0"/>
          </a:xfrm>
          <a:prstGeom prst="line">
            <a:avLst/>
          </a:prstGeom>
          <a:ln w="2540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67347" y="2532888"/>
            <a:ext cx="3649827" cy="3017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D13E24"/>
                </a:solidFill>
                <a:latin typeface="Poppins"/>
              </a:rPr>
              <a:t>FUTURE CUSTOMER INACTIVITY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47" y="2962656"/>
            <a:ext cx="4472787" cy="14874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450" b="0" i="1">
                <a:solidFill>
                  <a:srgbClr val="0F141D"/>
                </a:solidFill>
                <a:latin typeface="Cambria Math"/>
              </a:rPr>
              <a:t>q</a:t>
            </a:r>
            <a:r>
              <a:rPr sz="1500" b="0" i="1" baseline="-25000">
                <a:solidFill>
                  <a:srgbClr val="0F141D"/>
                </a:solidFill>
                <a:latin typeface="Cambria Math"/>
              </a:rPr>
              <a:t>c,t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  =  P( no purchase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
         in (t, t+H]  |  X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c,t</a:t>
            </a:r>
            <a:r>
              <a:rPr sz="2200" b="0" i="1">
                <a:solidFill>
                  <a:srgbClr val="0F141D"/>
                </a:solidFill>
                <a:latin typeface="Cambria Math"/>
              </a:rPr>
              <a:t>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347" y="4431792"/>
            <a:ext cx="4472787" cy="853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X_{c,t} only uses records available by cutoff t; horizon H is fixed before the final test.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06 ·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How We Score and Rank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The utility score U(a), and the cost model behind a reorder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76856"/>
            <a:ext cx="5204307" cy="3154680"/>
          </a:xfrm>
          <a:prstGeom prst="roundRect">
            <a:avLst>
              <a:gd name="adj" fmla="val 5500"/>
            </a:avLst>
          </a:prstGeom>
          <a:solidFill>
            <a:srgbClr val="FBF1E2"/>
          </a:solidFill>
          <a:ln w="1905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38470" y="2531059"/>
            <a:ext cx="497433" cy="497433"/>
          </a:xfrm>
          <a:prstGeom prst="ellipse">
            <a:avLst/>
          </a:prstGeom>
          <a:noFill/>
          <a:ln w="2540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78374" y="2670962"/>
            <a:ext cx="217627" cy="217627"/>
          </a:xfrm>
          <a:prstGeom prst="ellipse">
            <a:avLst/>
          </a:prstGeom>
          <a:solidFill>
            <a:srgbClr val="A96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32888"/>
            <a:ext cx="3649827" cy="5212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A9660A"/>
                </a:solidFill>
                <a:latin typeface="Poppins"/>
              </a:rPr>
              <a:t>ACTION UTILITY — SUBJECT TO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4472787" cy="12679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50" b="0" i="1">
                <a:solidFill>
                  <a:srgbClr val="0F141D"/>
                </a:solidFill>
                <a:latin typeface="Cambria Math"/>
              </a:rPr>
              <a:t>U(a | D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t</a:t>
            </a:r>
            <a:r>
              <a:rPr sz="1900" b="0" i="1">
                <a:solidFill>
                  <a:srgbClr val="0F141D"/>
                </a:solidFill>
                <a:latin typeface="Cambria Math"/>
              </a:rPr>
              <a:t>)  =  E[ΔProfit(a)]</a:t>
            </a:r>
            <a:r>
              <a:rPr sz="1900" b="0" i="1">
                <a:solidFill>
                  <a:srgbClr val="0F141D"/>
                </a:solidFill>
                <a:latin typeface="Cambria Math"/>
              </a:rPr>
              <a:t>
       − ActionCost(a) − λ·Risk(a)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31792"/>
            <a:ext cx="4472787" cy="853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Subject to: budget · stock · MOQ · lead time · pack · shelf life · expiry · cold-chain · consent.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2276856"/>
            <a:ext cx="5204307" cy="3154680"/>
          </a:xfrm>
          <a:prstGeom prst="roundRect">
            <a:avLst>
              <a:gd name="adj" fmla="val 5500"/>
            </a:avLst>
          </a:prstGeom>
          <a:solidFill>
            <a:srgbClr val="E9F4F4"/>
          </a:solidFill>
          <a:ln w="1905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69803" y="2562148"/>
            <a:ext cx="466344" cy="450799"/>
          </a:xfrm>
          <a:prstGeom prst="roundRect">
            <a:avLst>
              <a:gd name="adj" fmla="val 12000"/>
            </a:avLst>
          </a:prstGeom>
          <a:noFill/>
          <a:ln w="2794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769803" y="2702052"/>
            <a:ext cx="466344" cy="0"/>
          </a:xfrm>
          <a:prstGeom prst="line">
            <a:avLst/>
          </a:prstGeom>
          <a:ln w="2286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02975" y="2562148"/>
            <a:ext cx="0" cy="139904"/>
          </a:xfrm>
          <a:prstGeom prst="line">
            <a:avLst/>
          </a:prstGeom>
          <a:ln w="22860">
            <a:solidFill>
              <a:srgbClr val="0F73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67347" y="2532888"/>
            <a:ext cx="3649827" cy="5212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 spc="30">
                <a:solidFill>
                  <a:srgbClr val="0F7370"/>
                </a:solidFill>
                <a:latin typeface="Poppins"/>
              </a:rPr>
              <a:t>REPLENISHMENT COST FOR CANDIDATE ORDER 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47" y="3182112"/>
            <a:ext cx="4472787" cy="12679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50" b="0" i="1">
                <a:solidFill>
                  <a:srgbClr val="0F141D"/>
                </a:solidFill>
                <a:latin typeface="Cambria Math"/>
              </a:rPr>
              <a:t>J</a:t>
            </a:r>
            <a:r>
              <a:rPr sz="1300" b="0" i="1" baseline="-25000">
                <a:solidFill>
                  <a:srgbClr val="0F141D"/>
                </a:solidFill>
                <a:latin typeface="Cambria Math"/>
              </a:rPr>
              <a:t>p</a:t>
            </a:r>
            <a:r>
              <a:rPr sz="1950" b="0" i="1">
                <a:solidFill>
                  <a:srgbClr val="0F141D"/>
                </a:solidFill>
                <a:latin typeface="Cambria Math"/>
              </a:rPr>
              <a:t>(Q) = c</a:t>
            </a:r>
            <a:r>
              <a:rPr sz="1200" b="0" i="1" baseline="-25000">
                <a:solidFill>
                  <a:srgbClr val="0F141D"/>
                </a:solidFill>
                <a:latin typeface="Cambria Math"/>
              </a:rPr>
              <a:t>o</a:t>
            </a:r>
            <a:r>
              <a:rPr sz="1700" b="0" i="1">
                <a:solidFill>
                  <a:srgbClr val="0F141D"/>
                </a:solidFill>
                <a:latin typeface="Cambria Math"/>
              </a:rPr>
              <a:t>𝟙(Q&gt;0)</a:t>
            </a:r>
            <a:r>
              <a:rPr sz="1700" b="0" i="1">
                <a:solidFill>
                  <a:srgbClr val="0F141D"/>
                </a:solidFill>
                <a:latin typeface="Cambria Math"/>
              </a:rPr>
              <a:t>
+ c</a:t>
            </a:r>
            <a:r>
              <a:rPr sz="1200" b="0" i="1" baseline="-25000">
                <a:solidFill>
                  <a:srgbClr val="0F141D"/>
                </a:solidFill>
                <a:latin typeface="Cambria Math"/>
              </a:rPr>
              <a:t>h</a:t>
            </a:r>
            <a:r>
              <a:rPr sz="1700" b="0" i="1">
                <a:solidFill>
                  <a:srgbClr val="0F141D"/>
                </a:solidFill>
                <a:latin typeface="Cambria Math"/>
              </a:rPr>
              <a:t>E[(IP+Q−D</a:t>
            </a:r>
            <a:r>
              <a:rPr sz="1200" b="0" i="1" baseline="-25000">
                <a:solidFill>
                  <a:srgbClr val="0F141D"/>
                </a:solidFill>
                <a:latin typeface="Cambria Math"/>
              </a:rPr>
              <a:t>L</a:t>
            </a:r>
            <a:r>
              <a:rPr sz="1700" b="0" i="1">
                <a:solidFill>
                  <a:srgbClr val="0F141D"/>
                </a:solidFill>
                <a:latin typeface="Cambria Math"/>
              </a:rPr>
              <a:t>)⁺]</a:t>
            </a:r>
            <a:r>
              <a:rPr sz="1700" b="0" i="1">
                <a:solidFill>
                  <a:srgbClr val="0F141D"/>
                </a:solidFill>
                <a:latin typeface="Cambria Math"/>
              </a:rPr>
              <a:t>
+ c</a:t>
            </a:r>
            <a:r>
              <a:rPr sz="1200" b="0" i="1" baseline="-25000">
                <a:solidFill>
                  <a:srgbClr val="0F141D"/>
                </a:solidFill>
                <a:latin typeface="Cambria Math"/>
              </a:rPr>
              <a:t>s</a:t>
            </a:r>
            <a:r>
              <a:rPr sz="1700" b="0" i="1">
                <a:solidFill>
                  <a:srgbClr val="0F141D"/>
                </a:solidFill>
                <a:latin typeface="Cambria Math"/>
              </a:rPr>
              <a:t>E[(D</a:t>
            </a:r>
            <a:r>
              <a:rPr sz="1200" b="0" i="1" baseline="-25000">
                <a:solidFill>
                  <a:srgbClr val="0F141D"/>
                </a:solidFill>
                <a:latin typeface="Cambria Math"/>
              </a:rPr>
              <a:t>L</a:t>
            </a:r>
            <a:r>
              <a:rPr sz="1700" b="0" i="1">
                <a:solidFill>
                  <a:srgbClr val="0F141D"/>
                </a:solidFill>
                <a:latin typeface="Cambria Math"/>
              </a:rPr>
              <a:t>−IP−Q)⁺]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47" y="4431792"/>
            <a:ext cx="4472787" cy="8534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1A222E"/>
                </a:solidFill>
                <a:latin typeface="Inter"/>
              </a:rPr>
              <a:t>IP = on-hand + on-order − backorder. Costs are sensitivity-tested, never assumed exact.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07 · OUR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What This Thesis Contributes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Five research contributions, plus a working engineering artifact.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84832"/>
            <a:ext cx="841248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66544"/>
            <a:ext cx="412988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Traceable Data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87168"/>
            <a:ext cx="412988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Auditable schema, end to 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3227832"/>
            <a:ext cx="4129887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410712"/>
            <a:ext cx="841248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D13E24"/>
                </a:solidFill>
                <a:latin typeface="Poppi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392424"/>
            <a:ext cx="412988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Leakage-Free Protocols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13048"/>
            <a:ext cx="412988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Rules that stop target leakage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4553712"/>
            <a:ext cx="4129887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736592"/>
            <a:ext cx="841248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0F7370"/>
                </a:solidFill>
                <a:latin typeface="Poppi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18304"/>
            <a:ext cx="412988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Honest Baselines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38928"/>
            <a:ext cx="412988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Disciplined model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084832"/>
            <a:ext cx="841248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A9660A"/>
                </a:solidFill>
                <a:latin typeface="Poppi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6007" y="2066544"/>
            <a:ext cx="412988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Prediction →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6007" y="2487168"/>
            <a:ext cx="412988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Utility model for feasible actions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76007" y="3227832"/>
            <a:ext cx="4129888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61607" y="3410712"/>
            <a:ext cx="841248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6007" y="3392424"/>
            <a:ext cx="412988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Owner-Interpretability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3813048"/>
            <a:ext cx="412988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Tested on real owner decisions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6007" y="4553712"/>
            <a:ext cx="4129888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61607" y="4736592"/>
            <a:ext cx="841248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D13E24"/>
                </a:solidFill>
                <a:latin typeface="Poppin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6007" y="4718304"/>
            <a:ext cx="412988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50" b="1" i="0">
                <a:solidFill>
                  <a:srgbClr val="142441"/>
                </a:solidFill>
                <a:latin typeface="Poppins"/>
              </a:rPr>
              <a:t>Working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6007" y="5138928"/>
            <a:ext cx="412988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A running app, not just a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07 · OUR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What We Have Already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Built ahead of the report's requirement — the prototype already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78188" y="310896"/>
            <a:ext cx="2227707" cy="310896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 w="12700">
            <a:solidFill>
              <a:srgbClr val="146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78188" y="310896"/>
            <a:ext cx="2227707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i="0" spc="30">
                <a:solidFill>
                  <a:srgbClr val="146464"/>
                </a:solidFill>
                <a:latin typeface="Poppins"/>
              </a:rPr>
              <a:t>WORK ALREADY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4280" y="2186513"/>
            <a:ext cx="491581" cy="491581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30366" y="2350373"/>
            <a:ext cx="399410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0366" y="2514234"/>
            <a:ext cx="399410" cy="0"/>
          </a:xfrm>
          <a:prstGeom prst="line">
            <a:avLst/>
          </a:prstGeom>
          <a:ln w="22860">
            <a:solidFill>
              <a:srgbClr val="142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60423" y="2231136"/>
            <a:ext cx="248716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142441"/>
                </a:solidFill>
                <a:latin typeface="Poppin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" y="2907792"/>
            <a:ext cx="340156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142441"/>
                </a:solidFill>
                <a:latin typeface="Poppins"/>
              </a:rPr>
              <a:t>FastAPI · 56 endpoints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6023" y="3438144"/>
            <a:ext cx="3401568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6023" y="3566160"/>
            <a:ext cx="3401568" cy="8778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21-table multi-tenant SQL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8682" y="2217237"/>
            <a:ext cx="460857" cy="445495"/>
          </a:xfrm>
          <a:prstGeom prst="roundRect">
            <a:avLst>
              <a:gd name="adj" fmla="val 12000"/>
            </a:avLst>
          </a:prstGeom>
          <a:noFill/>
          <a:ln w="2794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548682" y="2355494"/>
            <a:ext cx="460858" cy="0"/>
          </a:xfrm>
          <a:prstGeom prst="line">
            <a:avLst/>
          </a:prstGeom>
          <a:ln w="2286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79111" y="2217237"/>
            <a:ext cx="0" cy="138257"/>
          </a:xfrm>
          <a:prstGeom prst="line">
            <a:avLst/>
          </a:prstGeom>
          <a:ln w="22860">
            <a:solidFill>
              <a:srgbClr val="D13E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09463" y="2231136"/>
            <a:ext cx="248716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D13E24"/>
                </a:solidFill>
                <a:latin typeface="Poppins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5063" y="2907792"/>
            <a:ext cx="340156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142441"/>
                </a:solidFill>
                <a:latin typeface="Poppins"/>
              </a:rPr>
              <a:t>React · 19 screens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95063" y="3438144"/>
            <a:ext cx="3401568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95063" y="3566160"/>
            <a:ext cx="3401568" cy="8778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Owner mode in Bangla, research mode for evaluators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97722" y="2463027"/>
            <a:ext cx="122895" cy="215066"/>
          </a:xfrm>
          <a:prstGeom prst="rect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66703" y="2340132"/>
            <a:ext cx="122895" cy="337962"/>
          </a:xfrm>
          <a:prstGeom prst="rect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35685" y="2201875"/>
            <a:ext cx="122895" cy="476219"/>
          </a:xfrm>
          <a:prstGeom prst="rect">
            <a:avLst/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8503" y="2231136"/>
            <a:ext cx="248716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60">
                <a:solidFill>
                  <a:srgbClr val="0F7370"/>
                </a:solidFill>
                <a:latin typeface="Poppins"/>
              </a:rPr>
              <a:t>ML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4103" y="2907792"/>
            <a:ext cx="340156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142441"/>
                </a:solidFill>
                <a:latin typeface="Poppins"/>
              </a:rPr>
              <a:t>16 staged scripts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44103" y="3438144"/>
            <a:ext cx="3401568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44103" y="3566160"/>
            <a:ext cx="3401568" cy="8778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Leak-free retrain + a running recommendation engine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389120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4572000"/>
            <a:ext cx="2705023" cy="637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 i="0">
                <a:solidFill>
                  <a:srgbClr val="142441"/>
                </a:solidFill>
                <a:latin typeface="Poppins"/>
              </a:rPr>
              <a:t>~15,200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45608"/>
            <a:ext cx="270502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38424F"/>
                </a:solidFill>
                <a:latin typeface="Inter"/>
              </a:rPr>
              <a:t>lines of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0823" y="4572000"/>
            <a:ext cx="2705023" cy="637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 i="0">
                <a:solidFill>
                  <a:srgbClr val="D13E24"/>
                </a:solidFill>
                <a:latin typeface="Poppins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823" y="5245608"/>
            <a:ext cx="270502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38424F"/>
                </a:solidFill>
                <a:latin typeface="Inter"/>
              </a:rPr>
              <a:t>trained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4572000"/>
            <a:ext cx="2705023" cy="637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 i="0">
                <a:solidFill>
                  <a:srgbClr val="0F7370"/>
                </a:solidFill>
                <a:latin typeface="Poppin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847" y="5245608"/>
            <a:ext cx="270502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38424F"/>
                </a:solidFill>
                <a:latin typeface="Inter"/>
              </a:rPr>
              <a:t>real public datasets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0871" y="4572000"/>
            <a:ext cx="2705023" cy="637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 i="0">
                <a:solidFill>
                  <a:srgbClr val="A9660A"/>
                </a:solidFill>
                <a:latin typeface="Poppi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0871" y="5245608"/>
            <a:ext cx="270502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38424F"/>
                </a:solidFill>
                <a:latin typeface="Inter"/>
              </a:rPr>
              <a:t>DB migrations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07 · OUR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From Today's Prototype to B-SMART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Each thing we built has a limit the methodology removes.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93392"/>
            <a:ext cx="4244187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spc="60">
                <a:solidFill>
                  <a:srgbClr val="1A222E"/>
                </a:solidFill>
                <a:latin typeface="Poppins"/>
              </a:rPr>
              <a:t>BUILT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1707" y="1993392"/>
            <a:ext cx="4244187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spc="60">
                <a:solidFill>
                  <a:srgbClr val="B93B2A"/>
                </a:solidFill>
                <a:latin typeface="Poppins"/>
              </a:rPr>
              <a:t>PROPOSED UPGRADE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34086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487168"/>
            <a:ext cx="1691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142441"/>
                </a:solidFill>
                <a:latin typeface="Poppin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87168"/>
            <a:ext cx="406130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One shop's own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3067" y="2487168"/>
            <a:ext cx="457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D13E24"/>
                </a:solidFill>
                <a:latin typeface="Poppin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1707" y="2487168"/>
            <a:ext cx="424418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Inter"/>
              </a:rPr>
              <a:t>Pooled multi-pharmacy evidence layer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72968"/>
            <a:ext cx="1082009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218688"/>
            <a:ext cx="1691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142441"/>
                </a:solidFill>
                <a:latin typeface="Poppin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218688"/>
            <a:ext cx="406130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Trained on synthetic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3067" y="3218688"/>
            <a:ext cx="457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D13E24"/>
                </a:solidFill>
                <a:latin typeface="Poppi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1707" y="3218688"/>
            <a:ext cx="424418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Inter"/>
              </a:rPr>
              <a:t>Trained on consenting pharmacy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904488"/>
            <a:ext cx="1082009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950208"/>
            <a:ext cx="1691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142441"/>
                </a:solidFill>
                <a:latin typeface="Poppin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950208"/>
            <a:ext cx="406130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Single untouched holdout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3067" y="3950208"/>
            <a:ext cx="457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D13E24"/>
                </a:solidFill>
                <a:latin typeface="Poppi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707" y="3950208"/>
            <a:ext cx="424418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Inter"/>
              </a:rPr>
              <a:t>Held-out-pharmacy transfer 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636008"/>
            <a:ext cx="1082009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681728"/>
            <a:ext cx="1691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142441"/>
                </a:solidFill>
                <a:latin typeface="Poppins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681728"/>
            <a:ext cx="406130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Ranked list of suggestions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3067" y="4681728"/>
            <a:ext cx="457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D13E24"/>
                </a:solidFill>
                <a:latin typeface="Poppi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1707" y="4681728"/>
            <a:ext cx="424418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Inter"/>
              </a:rPr>
              <a:t>Constraint-checked, feasible actions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5367528"/>
            <a:ext cx="1082009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413248"/>
            <a:ext cx="1691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142441"/>
                </a:solidFill>
                <a:latin typeface="Poppins"/>
              </a:rPr>
              <a:t>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413248"/>
            <a:ext cx="406130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Model vs baseline badge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3067" y="5413248"/>
            <a:ext cx="457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100" b="1" i="0">
                <a:solidFill>
                  <a:srgbClr val="D13E24"/>
                </a:solidFill>
                <a:latin typeface="Poppin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1707" y="5413248"/>
            <a:ext cx="4244187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700" b="1" i="0">
                <a:solidFill>
                  <a:srgbClr val="142441"/>
                </a:solidFill>
                <a:latin typeface="Inter"/>
              </a:rPr>
              <a:t>Reason, uncertainty and cutoff attached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08 ·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How shared learning across pharmacies becomes one shop's specific, feasible recommendation.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68880"/>
            <a:ext cx="45720" cy="731520"/>
          </a:xfrm>
          <a:prstGeom prst="rect">
            <a:avLst/>
          </a:prstGeom>
          <a:solidFill>
            <a:srgbClr val="14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468880"/>
            <a:ext cx="1051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spc="30">
                <a:solidFill>
                  <a:srgbClr val="146464"/>
                </a:solidFill>
                <a:latin typeface="Poppins"/>
              </a:rP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675887"/>
            <a:ext cx="45720" cy="731520"/>
          </a:xfrm>
          <a:prstGeom prst="rect">
            <a:avLst/>
          </a:prstGeom>
          <a:solidFill>
            <a:srgbClr val="B9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3675887"/>
            <a:ext cx="1051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spc="30">
                <a:solidFill>
                  <a:srgbClr val="B93B2A"/>
                </a:solidFill>
                <a:latin typeface="Poppins"/>
              </a:rPr>
              <a:t>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82896"/>
            <a:ext cx="45720" cy="731520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882896"/>
            <a:ext cx="1051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spc="30">
                <a:solidFill>
                  <a:srgbClr val="142441"/>
                </a:solidFill>
                <a:latin typeface="Poppins"/>
              </a:rPr>
              <a:t>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468880"/>
            <a:ext cx="2981858" cy="731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6464"/>
                </a:solidFill>
                <a:latin typeface="Poppins"/>
              </a:rPr>
              <a:t>Public / Reference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7858" y="2468880"/>
            <a:ext cx="2981858" cy="731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6464"/>
                </a:solidFill>
                <a:latin typeface="Poppins"/>
              </a:rPr>
              <a:t>Consenting Pharmacies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4036" y="2468880"/>
            <a:ext cx="2981858" cy="731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2441"/>
                </a:solidFill>
                <a:latin typeface="Poppins"/>
              </a:rPr>
              <a:t>Governed Evidence Layer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Validation · isolation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93538" y="2673705"/>
            <a:ext cx="3530498" cy="0"/>
          </a:xfrm>
          <a:prstGeom prst="line">
            <a:avLst/>
          </a:prstGeom>
          <a:ln w="16510">
            <a:solidFill>
              <a:srgbClr val="55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49716" y="2995574"/>
            <a:ext cx="274320" cy="0"/>
          </a:xfrm>
          <a:prstGeom prst="line">
            <a:avLst/>
          </a:prstGeom>
          <a:ln w="1905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14966" y="3200400"/>
            <a:ext cx="0" cy="475487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24036" y="3675887"/>
            <a:ext cx="2981858" cy="731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B93B2A"/>
                </a:solidFill>
                <a:latin typeface="Poppins"/>
              </a:rPr>
              <a:t>Model Selection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Baseline · pooled · shop-adapted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3675887"/>
            <a:ext cx="2981858" cy="731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B93B2A"/>
                </a:solidFill>
                <a:latin typeface="Poppins"/>
              </a:rPr>
              <a:t>Analytics Outputs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Demand · risk · segments · KPI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993538" y="4041648"/>
            <a:ext cx="3530498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02609" y="4407407"/>
            <a:ext cx="0" cy="475489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1680" y="4882896"/>
            <a:ext cx="2981858" cy="731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2441"/>
                </a:solidFill>
                <a:latin typeface="Poppins"/>
              </a:rPr>
              <a:t>Constraint-Aware Strategy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Feasibility · benefit ·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7858" y="4882896"/>
            <a:ext cx="2981858" cy="731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2441"/>
                </a:solidFill>
                <a:latin typeface="Poppins"/>
              </a:rPr>
              <a:t>Owner Decision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Accept · reject · defer · modify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4036" y="4882896"/>
            <a:ext cx="2981858" cy="731520"/>
          </a:xfrm>
          <a:prstGeom prst="roundRect">
            <a:avLst/>
          </a:prstGeom>
          <a:solidFill>
            <a:srgbClr val="142441"/>
          </a:solidFill>
          <a:ln w="2222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</a:rPr>
              <a:t>Outcome &amp; Monitoring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93538" y="5248656"/>
            <a:ext cx="274320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49716" y="5248656"/>
            <a:ext cx="274320" cy="0"/>
          </a:xfrm>
          <a:prstGeom prst="line">
            <a:avLst/>
          </a:prstGeom>
          <a:ln w="2032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011680" y="5961888"/>
            <a:ext cx="2981858" cy="530352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7E4C08"/>
                </a:solidFill>
                <a:latin typeface="Poppins"/>
              </a:rPr>
              <a:t>Shop Constraints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1A222E"/>
                </a:solidFill>
                <a:latin typeface="Inter"/>
              </a:rPr>
              <a:t>Budget · stock · lead time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502609" y="5614416"/>
            <a:ext cx="0" cy="347472"/>
          </a:xfrm>
          <a:prstGeom prst="line">
            <a:avLst/>
          </a:prstGeom>
          <a:ln w="19050">
            <a:solidFill>
              <a:srgbClr val="A966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014966" y="4645151"/>
            <a:ext cx="0" cy="237745"/>
          </a:xfrm>
          <a:prstGeom prst="line">
            <a:avLst/>
          </a:prstGeom>
          <a:ln w="15240">
            <a:solidFill>
              <a:srgbClr val="5560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014966" y="4407407"/>
            <a:ext cx="0" cy="237744"/>
          </a:xfrm>
          <a:prstGeom prst="line">
            <a:avLst/>
          </a:prstGeom>
          <a:ln w="15240">
            <a:solidFill>
              <a:srgbClr val="55606E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05018" y="5925312"/>
            <a:ext cx="6100876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0" i="1">
                <a:solidFill>
                  <a:srgbClr val="1A222E"/>
                </a:solidFill>
                <a:latin typeface="Inter"/>
              </a:rPr>
              <a:t>- - -  dashed = monitored feedback loop, not automatic retraining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08 ·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Our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The canonical data model — every KPI, forecast and risk score traces back to this schema.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368296"/>
            <a:ext cx="3058058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6464"/>
                </a:solidFill>
                <a:latin typeface="Poppins"/>
              </a:rPr>
              <a:t>Organization + Branch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6818" y="2368296"/>
            <a:ext cx="3058058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6464"/>
                </a:solidFill>
                <a:latin typeface="Poppins"/>
              </a:rPr>
              <a:t>Product + Supplier + Constraint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44916" y="2368296"/>
            <a:ext cx="3058058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6464"/>
                </a:solidFill>
                <a:latin typeface="Poppins"/>
              </a:rPr>
              <a:t>Customer + Consent</a:t>
            </a:r>
          </a:p>
        </p:txBody>
      </p:sp>
      <p:sp>
        <p:nvSpPr>
          <p:cNvPr id="9" name="Process 8"/>
          <p:cNvSpPr/>
          <p:nvPr/>
        </p:nvSpPr>
        <p:spPr>
          <a:xfrm>
            <a:off x="1188720" y="3602736"/>
            <a:ext cx="3058058" cy="73152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B93B2A"/>
                </a:solidFill>
                <a:latin typeface="Poppins"/>
              </a:rPr>
              <a:t>Purchase Order + Receiving</a:t>
            </a:r>
          </a:p>
        </p:txBody>
      </p:sp>
      <p:sp>
        <p:nvSpPr>
          <p:cNvPr id="10" name="Process 9"/>
          <p:cNvSpPr/>
          <p:nvPr/>
        </p:nvSpPr>
        <p:spPr>
          <a:xfrm>
            <a:off x="4566818" y="3602736"/>
            <a:ext cx="3058058" cy="73152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B93B2A"/>
                </a:solidFill>
                <a:latin typeface="Poppins"/>
              </a:rPr>
              <a:t>Sale + Line Items + Payment</a:t>
            </a:r>
          </a:p>
        </p:txBody>
      </p:sp>
      <p:sp>
        <p:nvSpPr>
          <p:cNvPr id="11" name="Process 10"/>
          <p:cNvSpPr/>
          <p:nvPr/>
        </p:nvSpPr>
        <p:spPr>
          <a:xfrm>
            <a:off x="7944916" y="3602736"/>
            <a:ext cx="3058058" cy="73152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B93B2A"/>
                </a:solidFill>
                <a:latin typeface="Poppins"/>
              </a:rPr>
              <a:t>Return + Refund + Receivable</a:t>
            </a:r>
          </a:p>
        </p:txBody>
      </p:sp>
      <p:sp>
        <p:nvSpPr>
          <p:cNvPr id="12" name="Process 11"/>
          <p:cNvSpPr/>
          <p:nvPr/>
        </p:nvSpPr>
        <p:spPr>
          <a:xfrm>
            <a:off x="1188720" y="4837176"/>
            <a:ext cx="3058058" cy="73152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7E4C08"/>
                </a:solidFill>
                <a:latin typeface="Poppins"/>
              </a:rPr>
              <a:t>Expense + Ledger</a:t>
            </a:r>
          </a:p>
        </p:txBody>
      </p:sp>
      <p:sp>
        <p:nvSpPr>
          <p:cNvPr id="13" name="Process 12"/>
          <p:cNvSpPr/>
          <p:nvPr/>
        </p:nvSpPr>
        <p:spPr>
          <a:xfrm>
            <a:off x="4566818" y="4837176"/>
            <a:ext cx="3058058" cy="73152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7E4C08"/>
                </a:solidFill>
                <a:latin typeface="Poppins"/>
              </a:rPr>
              <a:t>Stock Movements + Batch &amp; Expiry</a:t>
            </a:r>
          </a:p>
        </p:txBody>
      </p:sp>
      <p:sp>
        <p:nvSpPr>
          <p:cNvPr id="14" name="Process 13"/>
          <p:cNvSpPr/>
          <p:nvPr/>
        </p:nvSpPr>
        <p:spPr>
          <a:xfrm>
            <a:off x="7944916" y="4837176"/>
            <a:ext cx="3058058" cy="73152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7E4C08"/>
                </a:solidFill>
                <a:latin typeface="Poppins"/>
              </a:rPr>
              <a:t>Import Batch + Audit Log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17749" y="3099816"/>
            <a:ext cx="0" cy="50292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17749" y="4334256"/>
            <a:ext cx="0" cy="50292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3099816"/>
            <a:ext cx="0" cy="50292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4334256"/>
            <a:ext cx="0" cy="50292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73946" y="3099816"/>
            <a:ext cx="0" cy="50292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73946" y="4334256"/>
            <a:ext cx="0" cy="50292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24876" y="3968496"/>
            <a:ext cx="320040" cy="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46778" y="5202936"/>
            <a:ext cx="320040" cy="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24876" y="5202936"/>
            <a:ext cx="320040" cy="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88720" y="5797296"/>
            <a:ext cx="9814255" cy="6217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50" b="0" i="1">
                <a:solidFill>
                  <a:srgbClr val="1A222E"/>
                </a:solidFill>
                <a:latin typeface="Inter"/>
              </a:rPr>
              <a:t>Validated for uniqueness, chronology, pack consistency and stock balance.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08 ·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Choosing the Right Model for Each Pharmacy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The model-promotion ladder: the deployed choice is the highest level that passes every gate — it may stay the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927" y="2322576"/>
            <a:ext cx="7863840" cy="786384"/>
          </a:xfrm>
          <a:prstGeom prst="roundRect">
            <a:avLst>
              <a:gd name="adj" fmla="val 50000"/>
            </a:avLst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22378" y="2322576"/>
            <a:ext cx="786384" cy="7863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783" b="1" i="0">
                <a:solidFill>
                  <a:srgbClr val="0F7370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2354" y="2322576"/>
            <a:ext cx="7085685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Poppins"/>
              </a:rPr>
              <a:t>LEVEL 1 — TRANSPARENT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0311" y="3090672"/>
            <a:ext cx="7077455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1">
                <a:solidFill>
                  <a:srgbClr val="1A222E"/>
                </a:solidFill>
                <a:latin typeface="Inter"/>
              </a:rPr>
              <a:t>Always required and reproducible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3200400"/>
            <a:ext cx="0" cy="420624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24447" y="3200400"/>
            <a:ext cx="518144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1">
                <a:solidFill>
                  <a:srgbClr val="7E4C08"/>
                </a:solidFill>
                <a:latin typeface="Inter"/>
              </a:rPr>
              <a:t>Cross-shop evidence approved, gain stable?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3927" y="3712464"/>
            <a:ext cx="7863840" cy="786384"/>
          </a:xfrm>
          <a:prstGeom prst="roundRect">
            <a:avLst>
              <a:gd name="adj" fmla="val 50000"/>
            </a:avLst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2378" y="3712464"/>
            <a:ext cx="786384" cy="7863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783" b="1" i="0">
                <a:solidFill>
                  <a:srgbClr val="D13E24"/>
                </a:solidFill>
                <a:latin typeface="Poppi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2354" y="3712464"/>
            <a:ext cx="7085685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Poppins"/>
              </a:rPr>
              <a:t>LEVEL 2 — POOLED PHARMACY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0311" y="4480560"/>
            <a:ext cx="7077455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1">
                <a:solidFill>
                  <a:srgbClr val="1A222E"/>
                </a:solidFill>
                <a:latin typeface="Inter"/>
              </a:rPr>
              <a:t>Held-out-shop transfer tested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4590288"/>
            <a:ext cx="0" cy="420624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24447" y="4590288"/>
            <a:ext cx="5181447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1">
                <a:solidFill>
                  <a:srgbClr val="7E4C08"/>
                </a:solidFill>
                <a:latin typeface="Inter"/>
              </a:rPr>
              <a:t>Local history enough, gain material?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63927" y="5102352"/>
            <a:ext cx="7863840" cy="786384"/>
          </a:xfrm>
          <a:prstGeom prst="roundRect">
            <a:avLst>
              <a:gd name="adj" fmla="val 50000"/>
            </a:avLst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22378" y="5102352"/>
            <a:ext cx="786384" cy="78638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783" b="1" i="0">
                <a:solidFill>
                  <a:srgbClr val="142441"/>
                </a:solidFill>
                <a:latin typeface="Poppi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2354" y="5102352"/>
            <a:ext cx="7085685" cy="7863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Poppins"/>
              </a:rPr>
              <a:t>LEVEL 3 — SHOP-ADAPTED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0311" y="5870448"/>
            <a:ext cx="7077455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1">
                <a:solidFill>
                  <a:srgbClr val="1A222E"/>
                </a:solidFill>
                <a:latin typeface="Inter"/>
              </a:rPr>
              <a:t>Same-origin comparison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3927" y="6163056"/>
            <a:ext cx="786384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 i="1">
                <a:solidFill>
                  <a:srgbClr val="1A222E"/>
                </a:solidFill>
                <a:latin typeface="Inter"/>
              </a:rPr>
              <a:t>If a gate fails, the previous level is kept, with the reason.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08 ·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How We Prevent 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A versioned snapshot means future outcomes can never alter the record that produced an earlier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2322576"/>
            <a:ext cx="24231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42441"/>
                </a:solidFill>
                <a:latin typeface="Poppins"/>
              </a:rPr>
              <a:t>Versioned Event Ledger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1A222E"/>
                </a:solidFill>
                <a:latin typeface="Inter"/>
              </a:rPr>
              <a:t>Event &amp; receipt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5527" y="2322576"/>
            <a:ext cx="24231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D13E24"/>
                </a:solidFill>
                <a:latin typeface="Poppins"/>
              </a:rPr>
              <a:t>Snapshot Builder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1A222E"/>
                </a:solidFill>
                <a:latin typeface="Inter"/>
              </a:rPr>
              <a:t>Rules fitted before cutoff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322576"/>
            <a:ext cx="24231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0F7370"/>
                </a:solidFill>
                <a:latin typeface="Poppins"/>
              </a:rPr>
              <a:t>Immutable Snapshot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1A222E"/>
                </a:solidFill>
                <a:latin typeface="Inter"/>
              </a:rPr>
              <a:t>Features available at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0487" y="2322576"/>
            <a:ext cx="24231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A9660A"/>
                </a:solidFill>
                <a:latin typeface="Poppins"/>
              </a:rPr>
              <a:t>Released Output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 b="0" i="0">
                <a:solidFill>
                  <a:srgbClr val="1A222E"/>
                </a:solidFill>
                <a:latin typeface="Inter"/>
              </a:rPr>
              <a:t>Model, action &amp; evidence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61207" y="2734056"/>
            <a:ext cx="274320" cy="0"/>
          </a:xfrm>
          <a:prstGeom prst="line">
            <a:avLst/>
          </a:prstGeom>
          <a:ln w="1778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58687" y="2734056"/>
            <a:ext cx="274320" cy="0"/>
          </a:xfrm>
          <a:prstGeom prst="line">
            <a:avLst/>
          </a:prstGeom>
          <a:ln w="1778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56167" y="2734056"/>
            <a:ext cx="274320" cy="0"/>
          </a:xfrm>
          <a:prstGeom prst="line">
            <a:avLst/>
          </a:prstGeom>
          <a:ln w="1778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47107" y="3145536"/>
            <a:ext cx="0" cy="320040"/>
          </a:xfrm>
          <a:prstGeom prst="line">
            <a:avLst/>
          </a:prstGeom>
          <a:ln w="13970">
            <a:solidFill>
              <a:srgbClr val="D13E24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5527" y="3465576"/>
            <a:ext cx="2423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B93B2A"/>
                </a:solidFill>
                <a:latin typeface="Poppins"/>
              </a:rPr>
              <a:t>Decision cutoff 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A222E"/>
                </a:solidFill>
                <a:latin typeface="Inter"/>
              </a:rPr>
              <a:t>Future window stays sealed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44587" y="3145536"/>
            <a:ext cx="0" cy="320040"/>
          </a:xfrm>
          <a:prstGeom prst="line">
            <a:avLst/>
          </a:prstGeom>
          <a:ln w="13970">
            <a:solidFill>
              <a:srgbClr val="A9660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3007" y="3465576"/>
            <a:ext cx="2423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7E4C08"/>
                </a:solidFill>
                <a:latin typeface="Poppins"/>
              </a:rPr>
              <a:t>Outcome window (t, t+H]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A222E"/>
                </a:solidFill>
                <a:latin typeface="Inter"/>
              </a:rPr>
              <a:t>Labels &amp; realized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4288536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50" b="1" i="0">
                <a:solidFill>
                  <a:srgbClr val="142441"/>
                </a:solidFill>
                <a:latin typeface="Poppins"/>
              </a:rPr>
              <a:t>Frozen Evaluation 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463" y="4700016"/>
            <a:ext cx="2011680" cy="56692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441"/>
                </a:solidFill>
                <a:latin typeface="Poppins"/>
              </a:rPr>
              <a:t>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13735" y="4700016"/>
            <a:ext cx="2011680" cy="56692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13E24"/>
                </a:solidFill>
                <a:latin typeface="Poppins"/>
              </a:rPr>
              <a:t>Freeze Protocol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0007" y="4700016"/>
            <a:ext cx="2011680" cy="56692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7370"/>
                </a:solidFill>
                <a:latin typeface="Poppins"/>
              </a:rPr>
              <a:t>Untouched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6279" y="4700016"/>
            <a:ext cx="2011680" cy="56692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A9660A"/>
                </a:solidFill>
                <a:latin typeface="Poppins"/>
              </a:rPr>
              <a:t>Decision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42551" y="4700016"/>
            <a:ext cx="2011680" cy="56692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441"/>
                </a:solidFill>
                <a:latin typeface="Poppins"/>
              </a:rPr>
              <a:t>Bounded Claim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9143" y="4983480"/>
            <a:ext cx="164592" cy="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25415" y="4983480"/>
            <a:ext cx="164592" cy="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01687" y="4983480"/>
            <a:ext cx="164592" cy="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77959" y="4983480"/>
            <a:ext cx="164592" cy="0"/>
          </a:xfrm>
          <a:prstGeom prst="line">
            <a:avLst/>
          </a:prstGeom>
          <a:ln w="1651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08 ·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The B-SMART Recommendation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Algorithm 1 in the thesis report — exactly how one ranked recommendation gets built from raw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22576"/>
            <a:ext cx="10820095" cy="5669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905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22576"/>
            <a:ext cx="100584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1" i="0" spc="30">
                <a:solidFill>
                  <a:srgbClr val="142441"/>
                </a:solidFill>
                <a:latin typeface="Poppin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22576"/>
            <a:ext cx="9265615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142441"/>
                </a:solidFill>
                <a:latin typeface="Inter"/>
              </a:rPr>
              <a:t>Data at cutoff (D</a:t>
            </a:r>
            <a:r>
              <a:rPr sz="1100" b="0" i="1" baseline="-25000">
                <a:solidFill>
                  <a:srgbClr val="142441"/>
                </a:solidFill>
                <a:latin typeface="Cambria Math"/>
              </a:rPr>
              <a:t>t</a:t>
            </a:r>
            <a:r>
              <a:rPr sz="1800" b="0" i="0">
                <a:solidFill>
                  <a:srgbClr val="142441"/>
                </a:solidFill>
                <a:latin typeface="Inter"/>
              </a:rPr>
              <a:t>)   ·   Horizon (H)   ·   Shop constraints (C</a:t>
            </a:r>
            <a:r>
              <a:rPr sz="1100" b="0" i="1" baseline="-25000">
                <a:solidFill>
                  <a:srgbClr val="142441"/>
                </a:solidFill>
                <a:latin typeface="Cambria Math"/>
              </a:rPr>
              <a:t>t</a:t>
            </a:r>
            <a:r>
              <a:rPr sz="1800" b="0" i="0">
                <a:solidFill>
                  <a:srgbClr val="142441"/>
                </a:solidFill>
                <a:latin typeface="Inter"/>
              </a:rPr>
              <a:t>)   ·   Candidate models (M)   ·   Candidate actions (A)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2889504"/>
            <a:ext cx="0" cy="256032"/>
          </a:xfrm>
          <a:prstGeom prst="line">
            <a:avLst/>
          </a:prstGeom>
          <a:ln w="1778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3145536"/>
            <a:ext cx="2512999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46464"/>
                </a:solidFill>
                <a:latin typeface="Poppins"/>
              </a:rPr>
              <a:t>1 · VALIDATE &amp; SNAPSHOT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Verify source, schema &amp; timestamps; build the immutable snapshot Xₜ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98799" y="3854196"/>
            <a:ext cx="256032" cy="0"/>
          </a:xfrm>
          <a:prstGeom prst="line">
            <a:avLst/>
          </a:prstGeom>
          <a:ln w="1905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4831" y="3145536"/>
            <a:ext cx="2512999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D13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B93B2A"/>
                </a:solidFill>
                <a:latin typeface="Poppins"/>
              </a:rPr>
              <a:t>2 · PREDICT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Compare baseline / pooled / shop-adapted models; estimate demand &amp; drop-off risk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7831" y="3854196"/>
            <a:ext cx="256032" cy="0"/>
          </a:xfrm>
          <a:prstGeom prst="line">
            <a:avLst/>
          </a:prstGeom>
          <a:ln w="1905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23863" y="3145536"/>
            <a:ext cx="2512999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7E4C08"/>
                </a:solidFill>
                <a:latin typeface="Poppins"/>
              </a:rPr>
              <a:t>3 · SCORE EACH ACTION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Check feasibility (budget, stock, expiry, lead time, consent); score U(a) = benefit − cost − risk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6863" y="3854196"/>
            <a:ext cx="256032" cy="0"/>
          </a:xfrm>
          <a:prstGeom prst="line">
            <a:avLst/>
          </a:prstGeom>
          <a:ln w="1905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92895" y="3145536"/>
            <a:ext cx="2512999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42441"/>
                </a:solidFill>
                <a:latin typeface="Poppins"/>
              </a:rPr>
              <a:t>4 · RANK &amp; RETURN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00" b="0" i="0">
                <a:solidFill>
                  <a:srgbClr val="1A222E"/>
                </a:solidFill>
                <a:latin typeface="Inter"/>
              </a:rPr>
              <a:t>Drop infeasible actions; rank by U(a); attach reason, confidence &amp; cutoff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4562856"/>
            <a:ext cx="0" cy="256032"/>
          </a:xfrm>
          <a:prstGeom prst="line">
            <a:avLst/>
          </a:prstGeom>
          <a:ln w="17780">
            <a:solidFill>
              <a:srgbClr val="384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818888"/>
            <a:ext cx="10820095" cy="932688"/>
          </a:xfrm>
          <a:prstGeom prst="roundRect">
            <a:avLst>
              <a:gd name="adj" fmla="val 12000"/>
            </a:avLst>
          </a:prstGeom>
          <a:solidFill>
            <a:srgbClr val="142441"/>
          </a:solidFill>
          <a:ln w="19050">
            <a:solidFill>
              <a:srgbClr val="142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1188720" cy="9326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1" i="0" spc="30">
                <a:solidFill>
                  <a:srgbClr val="FFFFFF"/>
                </a:solidFill>
                <a:latin typeface="Poppin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818888"/>
            <a:ext cx="9082735" cy="9326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50" b="1" i="0">
                <a:solidFill>
                  <a:srgbClr val="FFFFFF"/>
                </a:solidFill>
                <a:latin typeface="Poppins"/>
              </a:rPr>
              <a:t>Rₜ — </a:t>
            </a:r>
            <a:r>
              <a:rPr sz="1750" b="0" i="0">
                <a:solidFill>
                  <a:srgbClr val="FFFFFF"/>
                </a:solidFill>
                <a:latin typeface="Inter"/>
              </a:rPr>
              <a:t>top-K ranked feasible recommendations, each with its reason, confidence and cutoff. The owner's response and the later outcome are logged for the next revalidation.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09 · PROGRESS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We Ran the Algorithm — Here Is R_t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Algorithm 1 end to end: 13 constraints applied, then a balanced slate — 5 reorder, 5 near-expiry, 5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71889" y="310896"/>
            <a:ext cx="2334006" cy="310896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 w="12700">
            <a:solidFill>
              <a:srgbClr val="7E4C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889" y="310896"/>
            <a:ext cx="233400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i="0" spc="30">
                <a:solidFill>
                  <a:srgbClr val="7E4C08"/>
                </a:solidFill>
                <a:latin typeface="Poppins"/>
              </a:rPr>
              <a:t>SYNTHETIC DEV DATA</a:t>
            </a:r>
          </a:p>
        </p:txBody>
      </p:sp>
      <p:pic>
        <p:nvPicPr>
          <p:cNvPr id="14" name="Picture 13" descr="bsmart_top_recommend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6" y="2276856"/>
            <a:ext cx="6802422" cy="407822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09 · PROGRESS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One Recommendation, Fully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The top action in R_t, broken into the three terms of U(a) = E[ΔProfit] − Cost − λ·Risk.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71889" y="310896"/>
            <a:ext cx="2334006" cy="310896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 w="12700">
            <a:solidFill>
              <a:srgbClr val="7E4C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889" y="310896"/>
            <a:ext cx="233400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i="0" spc="30">
                <a:solidFill>
                  <a:srgbClr val="7E4C08"/>
                </a:solidFill>
                <a:latin typeface="Poppins"/>
              </a:rPr>
              <a:t>SYNTHETIC DEV DATA</a:t>
            </a:r>
          </a:p>
        </p:txBody>
      </p:sp>
      <p:pic>
        <p:nvPicPr>
          <p:cNvPr id="14" name="Picture 13" descr="bsmart_worked_ex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1017" y="2276856"/>
            <a:ext cx="6329660" cy="407822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27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09 · PROGRESS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2,448 Candidates In, 15 Recommendations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13 constraints remove 3 of every 4 candidates — budget, MOQ, storage, cold chain, shelf life, consent,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71889" y="310896"/>
            <a:ext cx="2334006" cy="310896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 w="12700">
            <a:solidFill>
              <a:srgbClr val="7E4C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889" y="310896"/>
            <a:ext cx="233400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i="0" spc="30">
                <a:solidFill>
                  <a:srgbClr val="7E4C08"/>
                </a:solidFill>
                <a:latin typeface="Poppins"/>
              </a:rPr>
              <a:t>SYNTHETIC DEV DATA</a:t>
            </a:r>
          </a:p>
        </p:txBody>
      </p:sp>
      <p:pic>
        <p:nvPicPr>
          <p:cNvPr id="14" name="Picture 13" descr="bsmart_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4356" y="2276856"/>
            <a:ext cx="6582981" cy="4078224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28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09 · PROGRESS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11704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The Model Behind Step 4 Actually Separates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65376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Real predicted churn probabilities from the retrained model this engine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71889" y="310896"/>
            <a:ext cx="2334006" cy="310896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 w="12700">
            <a:solidFill>
              <a:srgbClr val="7E4C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889" y="310896"/>
            <a:ext cx="233400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i="0" spc="30">
                <a:solidFill>
                  <a:srgbClr val="7E4C08"/>
                </a:solidFill>
                <a:latin typeface="Poppins"/>
              </a:rPr>
              <a:t>SYNTHETIC DEV DATA</a:t>
            </a:r>
          </a:p>
        </p:txBody>
      </p:sp>
      <p:pic>
        <p:nvPicPr>
          <p:cNvPr id="17" name="Picture 16" descr="bsmart_churn_sco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81" y="2807208"/>
            <a:ext cx="5722997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3035808"/>
            <a:ext cx="3687775" cy="637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 i="0">
                <a:solidFill>
                  <a:srgbClr val="146464"/>
                </a:solidFill>
                <a:latin typeface="Poppins"/>
              </a:rPr>
              <a:t>0.936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709416"/>
            <a:ext cx="3687775" cy="42367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38424F"/>
                </a:solidFill>
                <a:latin typeface="Inter"/>
              </a:rPr>
              <a:t>ROC-AUC · this model, applied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270248"/>
            <a:ext cx="3687775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0" i="0">
                <a:solidFill>
                  <a:srgbClr val="1A222E"/>
                </a:solidFill>
                <a:latin typeface="Inter"/>
              </a:rPr>
              <a:t>PR-AUC 0.820 vs 0.343 random · Lift@10% 2.47×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450" b="0" i="1">
                <a:solidFill>
                  <a:srgbClr val="B93B2A"/>
                </a:solidFill>
                <a:latin typeface="Inter"/>
              </a:rPr>
              <a:t>1,961 of 4,510 customers cross the model's own threshold — consent then campaign capacity reduce that to 150 actionable contacts.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29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09 · PROGRESS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Our Data: What's Real, What's Not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Three evidence tiers, never blended into one reported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84832"/>
            <a:ext cx="3423818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96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7E4C08"/>
                </a:solidFill>
                <a:latin typeface="Poppins"/>
              </a:rPr>
              <a:t>Tier 1 — Primary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500" b="0" i="0">
                <a:solidFill>
                  <a:srgbClr val="1A222E"/>
                </a:solidFill>
                <a:latin typeface="Inter"/>
              </a:rPr>
              <a:t>Consenting Bangladeshi pharmacies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181" y="3419856"/>
            <a:ext cx="2739054" cy="402336"/>
          </a:xfrm>
          <a:prstGeom prst="roundRect">
            <a:avLst>
              <a:gd name="adj" fmla="val 50000"/>
            </a:avLst>
          </a:prstGeom>
          <a:solidFill>
            <a:srgbClr val="7E4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181" y="3419856"/>
            <a:ext cx="2739054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 i="0" spc="40">
                <a:solidFill>
                  <a:srgbClr val="FFFFFF"/>
                </a:solidFill>
                <a:latin typeface="Poppins"/>
              </a:rPr>
              <a:t>NOT YET COLLECTED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084832"/>
            <a:ext cx="3423818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6464"/>
                </a:solidFill>
                <a:latin typeface="Poppins"/>
              </a:rPr>
              <a:t>Tier 2 — Public Real Data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500" b="0" i="0">
                <a:solidFill>
                  <a:srgbClr val="1A222E"/>
                </a:solidFill>
                <a:latin typeface="Inter"/>
              </a:rPr>
              <a:t>WFP prices · UCI Retail II · BD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6320" y="3419856"/>
            <a:ext cx="2739054" cy="402336"/>
          </a:xfrm>
          <a:prstGeom prst="roundRect">
            <a:avLst>
              <a:gd name="adj" fmla="val 50000"/>
            </a:avLst>
          </a:prstGeom>
          <a:solidFill>
            <a:srgbClr val="14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6320" y="3419856"/>
            <a:ext cx="2739054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 i="0" spc="40">
                <a:solidFill>
                  <a:srgbClr val="FFFFFF"/>
                </a:solidFill>
                <a:latin typeface="Poppins"/>
              </a:rPr>
              <a:t>VALIDATED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2084832"/>
            <a:ext cx="3423818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8424F"/>
                </a:solidFill>
                <a:latin typeface="Poppins"/>
              </a:rPr>
              <a:t>Tier 3 — Synthetic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500" b="0" i="0">
                <a:solidFill>
                  <a:srgbClr val="1A222E"/>
                </a:solidFill>
                <a:latin typeface="Inter"/>
              </a:rPr>
              <a:t>30k-row pharmacy dataset · 111 real BD medicine SKUs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4458" y="3419856"/>
            <a:ext cx="2739054" cy="402336"/>
          </a:xfrm>
          <a:prstGeom prst="roundRect">
            <a:avLst>
              <a:gd name="adj" fmla="val 50000"/>
            </a:avLst>
          </a:prstGeom>
          <a:solidFill>
            <a:srgbClr val="38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4458" y="3419856"/>
            <a:ext cx="2739054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 i="0" spc="40">
                <a:solidFill>
                  <a:srgbClr val="FFFFFF"/>
                </a:solidFill>
                <a:latin typeface="Poppins"/>
              </a:rPr>
              <a:t>DEV / TEST ONLY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4297680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26280"/>
            <a:ext cx="10820095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800" b="1" i="0">
                <a:solidFill>
                  <a:srgbClr val="142441"/>
                </a:solidFill>
                <a:latin typeface="Poppins"/>
              </a:rPr>
              <a:t>B-SMART engineering: </a:t>
            </a:r>
            <a:r>
              <a:rPr sz="1800" b="0" i="0">
                <a:solidFill>
                  <a:srgbClr val="1A222E"/>
                </a:solidFill>
                <a:latin typeface="Inter"/>
              </a:rPr>
              <a:t>the previous 4 slides are Algorithm 1 actually executed on Tier 2/3 evidence — pending pharmacy partner data to close Tier 1.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30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10 · TIMELINE FOR NEXT SEMESTER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28 Weeks: 14 Done, 14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Report methodology is complete. What is left is real data, then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66544"/>
            <a:ext cx="10820095" cy="38404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66544"/>
            <a:ext cx="5410047" cy="384048"/>
          </a:xfrm>
          <a:prstGeom prst="roundRect">
            <a:avLst>
              <a:gd name="adj" fmla="val 50000"/>
            </a:avLst>
          </a:prstGeom>
          <a:solidFill>
            <a:srgbClr val="0F7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66544"/>
            <a:ext cx="486140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1" i="0" spc="30">
                <a:solidFill>
                  <a:srgbClr val="FFFFFF"/>
                </a:solidFill>
                <a:latin typeface="Poppins"/>
              </a:rPr>
              <a:t>WEEKS 1–14  · 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2066544"/>
            <a:ext cx="4861407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1" i="0" spc="30">
                <a:solidFill>
                  <a:srgbClr val="1A222E"/>
                </a:solidFill>
                <a:latin typeface="Poppins"/>
              </a:rPr>
              <a:t>WEEKS 15–28  ·  REMAINING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509000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1" i="0">
                <a:solidFill>
                  <a:srgbClr val="146464"/>
                </a:solidFill>
                <a:latin typeface="Poppins"/>
              </a:rPr>
              <a:t>✓  DONE — 14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9601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W1–4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37560"/>
            <a:ext cx="403844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Scope fixed on pharmacies; 4 research questions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59352"/>
            <a:ext cx="9601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W5–8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959352"/>
            <a:ext cx="403844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Literature review, research gap G1–G6, evidence 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81144"/>
            <a:ext cx="9601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W9–12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81144"/>
            <a:ext cx="403844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Report Ch. 1–3 written: problem, background,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02936"/>
            <a:ext cx="9601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W13–14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202936"/>
            <a:ext cx="403844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App built, retrained leak-free; B-SMART engine now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862072"/>
            <a:ext cx="509000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50" b="1" i="0">
                <a:solidFill>
                  <a:srgbClr val="B93B2A"/>
                </a:solidFill>
                <a:latin typeface="Poppins"/>
              </a:rPr>
              <a:t>→  REMAINING — 14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3337560"/>
            <a:ext cx="1051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B93B2A"/>
                </a:solidFill>
                <a:latin typeface="Poppins"/>
              </a:rPr>
              <a:t>W15–18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8887" y="3337560"/>
            <a:ext cx="394700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Onboard consenting pharmacies; import real sales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959352"/>
            <a:ext cx="1051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B93B2A"/>
                </a:solidFill>
                <a:latin typeface="Poppins"/>
              </a:rPr>
              <a:t>W19–22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8887" y="3959352"/>
            <a:ext cx="394700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Chapter 4 — Implementation: pooled vs shop-adapted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4581144"/>
            <a:ext cx="1051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B93B2A"/>
                </a:solidFill>
                <a:latin typeface="Poppins"/>
              </a:rPr>
              <a:t>W23–25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8887" y="4581144"/>
            <a:ext cx="394700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Chapter 5 — Results: held-out pharmacy, reorder, owner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5202936"/>
            <a:ext cx="10515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B93B2A"/>
                </a:solidFill>
                <a:latin typeface="Poppins"/>
              </a:rPr>
              <a:t>W26–28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8887" y="5202936"/>
            <a:ext cx="3947007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Final write-up, submission and defence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31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2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53312"/>
            <a:ext cx="12191695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5600" b="1" i="0">
                <a:solidFill>
                  <a:srgbClr val="142441"/>
                </a:solidFill>
                <a:latin typeface="Poppins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647" y="2423160"/>
            <a:ext cx="914400" cy="64008"/>
          </a:xfrm>
          <a:prstGeom prst="rect">
            <a:avLst/>
          </a:prstGeom>
          <a:solidFill>
            <a:srgbClr val="D13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33472"/>
            <a:ext cx="12191695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350" b="1" i="0">
                <a:solidFill>
                  <a:srgbClr val="B93B2A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337560"/>
            <a:ext cx="9265615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800" b="0" i="1">
                <a:solidFill>
                  <a:srgbClr val="1A222E"/>
                </a:solidFill>
                <a:latin typeface="Inter"/>
              </a:rPr>
              <a:t>B-SMART turns pharmacy evidence and shop constraints into feasible, explainable, owner-accountable recommendations.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4416552"/>
            <a:ext cx="889985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45920" y="4599432"/>
            <a:ext cx="8899855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750" b="1" i="0">
                <a:solidFill>
                  <a:srgbClr val="142441"/>
                </a:solidFill>
                <a:latin typeface="Poppins"/>
              </a:rPr>
              <a:t>Md. Rakib Hossain  ·  Shah Jamal Islam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700" b="0" i="0">
                <a:solidFill>
                  <a:srgbClr val="1A222E"/>
                </a:solidFill>
                <a:latin typeface="Inter"/>
              </a:rPr>
              <a:t>Supervised by Dr. Saifuddin Md. Tareeq, Professor, Dept. of CSE, University of Dhaka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0" i="0">
                <a:solidFill>
                  <a:srgbClr val="1A222E"/>
                </a:solidFill>
                <a:latin typeface="Inter"/>
              </a:rPr>
              <a:t>CSE 4114 · Project Work · September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REFERENCES —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Key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36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00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 i="0">
                <a:solidFill>
                  <a:srgbClr val="142441"/>
                </a:solidFill>
                <a:latin typeface="Poppins"/>
              </a:rPr>
              <a:t>APPENDIX · KEPT FOR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0824"/>
            <a:ext cx="10820095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50" b="0" i="0">
                <a:solidFill>
                  <a:srgbClr val="1A222E"/>
                </a:solidFill>
                <a:latin typeface="Inter"/>
              </a:rPr>
              <a:t>Full bibliography: 25 verified records in the thesis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50591"/>
            <a:ext cx="5181447" cy="42062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1.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Chen, Chiang &amp; Storey (2012). Business Intelligence and Analytics. MIS Quarterly.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2.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Hevner, March, Park &amp; Ram (2004). Design Science in IS Research. MIS Quarterly.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3.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Hoque, Saif, AlBar &amp; Bao (2016). ICT Adoption for Development: Bangladesh SMEs.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4.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Fader, Hardie &amp; Lee (2005). RFM and CLV: Iso-Value Curves. J. Marketing Research.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700" b="1" i="0">
                <a:solidFill>
                  <a:srgbClr val="146464"/>
                </a:solidFill>
                <a:latin typeface="Poppins"/>
              </a:rPr>
              <a:t>5.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Breiman (2001). Random Forests. Machine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450591"/>
            <a:ext cx="5181447" cy="42062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800" b="1" i="0">
                <a:solidFill>
                  <a:srgbClr val="146464"/>
                </a:solidFill>
                <a:latin typeface="Poppins"/>
              </a:rPr>
              <a:t>6.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Chen &amp; Guestrin (2016). XGBoost: A Scalable Tree Boosting System. ACM SIGKDD.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800" b="1" i="0">
                <a:solidFill>
                  <a:srgbClr val="146464"/>
                </a:solidFill>
                <a:latin typeface="Poppins"/>
              </a:rPr>
              <a:t>7.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Makridakis, Spiliotis &amp; Assimakopoulos (2022). The M5 Competition. Int. J. Forecasting.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800" b="1" i="0">
                <a:solidFill>
                  <a:srgbClr val="146464"/>
                </a:solidFill>
                <a:latin typeface="Poppins"/>
              </a:rPr>
              <a:t>8.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Kaufman, Rosset, Perlich &amp; Stitelman (2012). Leakage in Data Mining. ACM TKDD.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800" b="1" i="0">
                <a:solidFill>
                  <a:srgbClr val="146464"/>
                </a:solidFill>
                <a:latin typeface="Poppins"/>
              </a:rPr>
              <a:t>9.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Lundberg &amp; Lee (2017). Interpreting Model Predictions (SHAP). NeurIPS 30.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800" b="1" i="0">
                <a:solidFill>
                  <a:srgbClr val="146464"/>
                </a:solidFill>
                <a:latin typeface="Poppins"/>
              </a:rPr>
              <a:t>10.  </a:t>
            </a:r>
            <a:r>
              <a:rPr sz="1700" b="0" i="0">
                <a:solidFill>
                  <a:srgbClr val="1A222E"/>
                </a:solidFill>
                <a:latin typeface="Inter"/>
              </a:rPr>
              <a:t>Bertsimas &amp; Kallus (2020). From Predictive to Prescriptive Analytics. Mgmt. Science.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33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960120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 spc="120">
                <a:solidFill>
                  <a:srgbClr val="B93B2A"/>
                </a:solidFill>
                <a:latin typeface="Poppins"/>
              </a:rPr>
              <a:t>09 · PROGRESS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40080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 i="0">
                <a:solidFill>
                  <a:srgbClr val="142441"/>
                </a:solidFill>
                <a:latin typeface="Poppins"/>
              </a:rPr>
              <a:t>One Real Shop's Own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81360" cy="7132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0">
                <a:solidFill>
                  <a:srgbClr val="1A222E"/>
                </a:solidFill>
                <a:latin typeface="Inter"/>
              </a:rPr>
              <a:t>Not a division average: live GET /api/app/recommendations output for one seeded pharmacy — its own branch, stock and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71889" y="310896"/>
            <a:ext cx="2334006" cy="310896"/>
          </a:xfrm>
          <a:prstGeom prst="roundRect">
            <a:avLst>
              <a:gd name="adj" fmla="val 50000"/>
            </a:avLst>
          </a:prstGeom>
          <a:solidFill>
            <a:srgbClr val="0A8754"/>
          </a:solidFill>
          <a:ln w="12700">
            <a:solidFill>
              <a:srgbClr val="085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889" y="310896"/>
            <a:ext cx="233400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i="0" spc="30">
                <a:solidFill>
                  <a:srgbClr val="FFFFFF"/>
                </a:solidFill>
                <a:latin typeface="Poppins"/>
              </a:rPr>
              <a:t>LIVE SHOP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547104"/>
            <a:ext cx="10820095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6620256"/>
            <a:ext cx="3657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 spc="60">
                <a:solidFill>
                  <a:srgbClr val="38424F"/>
                </a:solidFill>
                <a:latin typeface="Poppins"/>
              </a:rPr>
              <a:t>B-SMART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620256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38424F"/>
                </a:solidFill>
                <a:latin typeface="Inter"/>
              </a:rPr>
              <a:t>26 / 33</a:t>
            </a:r>
          </a:p>
        </p:txBody>
      </p:sp>
      <p:pic>
        <p:nvPicPr>
          <p:cNvPr id="12" name="Picture 11" descr="shop_recommendation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316" y="2276856"/>
            <a:ext cx="7169061" cy="4078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